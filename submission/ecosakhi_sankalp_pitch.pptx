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Respected jury members, every day millions of tonnes of valuable dry waste are lost to Indian landfills, while millions of women working informally in waste collection remain invisible, underpaid, and unbanked. Welcome to EcoSakhi: an innovative circular-economy platform that turns recyclable waste into traceable community value and dignified economic opportunities for women-led Self-Help Groups.</a:t>
            </a:r>
          </a:p>
          <a:p/>
          <a:p>
            <a:r>
              <a:t>TRANSITION TO NEXT SLIDE:</a:t>
            </a:r>
          </a:p>
          <a:p>
            <a:r>
              <a:t>To understand why EcoSakhi is needed, let us look at the structural breakdown in India's current urban waste value chain.</a:t>
            </a:r>
          </a:p>
          <a:p/>
          <a:p>
            <a:r>
              <a:t>SOURCES &amp; VERIFIED CITATIONS:</a:t>
            </a:r>
          </a:p>
          <a:p>
            <a:r>
              <a:t>CPCB Annual Report (2020-21); NITI Aayog 'Waste-wise Cities' (2021). All features demonstrated in this pitch are grounded in the working EcoSakhi software prototype.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India generates over 62 million tonnes of municipal solid waste every year. Yet, less than 20 percent of recyclable waste enters formal recovery channels. The tragedy is that informal waste collectors—mostly women—recover up to 80 percent of plastics, but middleman markups leave them with less than 15 percent of the economic value. They work invisibly, with zero digital transaction records, leaving them completely excluded from formal financial institutions like Satin Finserv.</a:t>
            </a:r>
          </a:p>
          <a:p/>
          <a:p>
            <a:r>
              <a:t>TRANSITION TO NEXT SLIDE:</a:t>
            </a:r>
          </a:p>
          <a:p>
            <a:r>
              <a:t>EcoSakhi was built to bridge this disconnect with a unified digital infrastructure.</a:t>
            </a:r>
          </a:p>
          <a:p/>
          <a:p>
            <a:r>
              <a:t>SOURCES &amp; VERIFIED CITATIONS:</a:t>
            </a:r>
          </a:p>
          <a:p>
            <a:r>
              <a:t>Central Pollution Control Board (CPCB) Annual Report 2020-21; NITI Aayog &amp; CSE 'Waste-wise Cities' (2021); MoHUA Swachh Bharat Mission Urban Guidelines.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EcoSakhi connects all four stakeholders into one transparent circular loop. A citizen schedules dry waste pickup and receives an instant price estimate. A woman SHG collector accepts the job, weighs the scrap on a digital scale, and issues a tamper-evident digital receipt with direct wallet payout. Certified recyclers receive verified, clean batches with weighbridge reconciliation. Finally, these verified transaction logs build a Climate Activity Profile that helps financial institutions like Satin Finserv underwrite productive green assets.</a:t>
            </a:r>
          </a:p>
          <a:p/>
          <a:p>
            <a:r>
              <a:t>TRANSITION TO NEXT SLIDE:</a:t>
            </a:r>
          </a:p>
          <a:p>
            <a:r>
              <a:t>Let us now look at the actual working product that makes this happen.</a:t>
            </a:r>
          </a:p>
          <a:p/>
          <a:p>
            <a:r>
              <a:t>SOURCES &amp; VERIFIED CITATIONS:</a:t>
            </a:r>
          </a:p>
          <a:p>
            <a:r>
              <a:t>EcoSakhi Software Architecture v1.0. System tested end-to-end on local React 19 / Vite development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This is not a Figma mockup or conceptual slide—these are genuine screenshots from our working React 19 application. In screen one, a citizen schedules a pickup of 12.5 kg of PET bottles, instantly seeing an indicative value of ₹200. In screen two, Lakshmi from the local SHG accepts the trip, logs the digital scale weight, and creates a verified receipt with an audit hash. In screen three, ₹200 is credited immediately to Lakshmi's wallet. In screen four, the ward supervisor sees aggregate circular telemetry in real time.</a:t>
            </a:r>
          </a:p>
          <a:p/>
          <a:p>
            <a:r>
              <a:t>TRANSITION TO NEXT SLIDE:</a:t>
            </a:r>
          </a:p>
          <a:p>
            <a:r>
              <a:t>Next, let us look under the hood at the technology and architectural innovation powering this platform.</a:t>
            </a:r>
          </a:p>
          <a:p/>
          <a:p>
            <a:r>
              <a:t>SOURCES &amp; VERIFIED CITATIONS:</a:t>
            </a:r>
          </a:p>
          <a:p>
            <a:r>
              <a:t>EcoSakhi v1.0 Production Build. All screens captured live from local development server http://127.0.0.1:5174/.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Our technology architecture was engineered specifically for ground realities in Indian cities. The client is a lightweight Progressive Web App under 900 kilobytes that caches data locally when collectors enter connectivity blindspots. Our EcoVision scanner uses an edge AI framework to assist workers in identifying plastics and contamination. We transparently disclose that the 94 percent accuracy shown is a prototype test inference. Most importantly, all data sharing strictly complies with India's DPDP Act 2023.</a:t>
            </a:r>
          </a:p>
          <a:p/>
          <a:p>
            <a:r>
              <a:t>TRANSITION TO NEXT SLIDE:</a:t>
            </a:r>
          </a:p>
          <a:p>
            <a:r>
              <a:t>Now, how does EcoSakhi establish trust across the supply chain without relying on speculative blockchain buzzwords?</a:t>
            </a:r>
          </a:p>
          <a:p/>
          <a:p>
            <a:r>
              <a:t>SOURCES &amp; VERIFIED CITATIONS:</a:t>
            </a:r>
          </a:p>
          <a:p>
            <a:r>
              <a:t>DPDP Act 2023 (Act No. 22 of 2023); MobileNetV4 / YOLO-nano edge inference architectures; EcoSakhi Technical Architecture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Judges often ask: how do you prevent fraud or greenwashing? We do not rely on speculative blockchain buzzwords. Instead, we implement a practical closed-loop custody flow: collection at the curb, secondary sorting at the SHG hub, batch aggregation with SHA-256 audit hashes, and independent verification at the recycler's industrial gate weighbridge. Escrow payments are released only when gate weight matches within a two percent tolerance threshold. We combine density sanity algorithms with dual-party confirmations.</a:t>
            </a:r>
          </a:p>
          <a:p/>
          <a:p>
            <a:r>
              <a:t>TRANSITION TO NEXT SLIDE:</a:t>
            </a:r>
          </a:p>
          <a:p>
            <a:r>
              <a:t>Let us now look at our impact model and see how verified collections translate into measurable environmental and financial outcomes.</a:t>
            </a:r>
          </a:p>
          <a:p/>
          <a:p>
            <a:r>
              <a:t>SOURCES &amp; VERIFIED CITATIONS:</a:t>
            </a:r>
          </a:p>
          <a:p>
            <a:r>
              <a:t>CPCB Plastic Waste EPR Guidelines (2022); ISO 14044 Life Cycle Assessment Principles; MoEFCC Battery &amp; E-Waste Management Rules.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To maintain strict scientific integrity, we clearly separate our measured prototype outputs from our scaled scenario projections. In our software prototype, 1,480 kilograms have been logged across 146 collection trips, avoiding 2.18 tonnes of CO2e. For a 1,000-household urban cluster, our model projects 120 metric tonnes diverted annually, avoiding 180 tonnes of CO2e and generating 18.5 lakh rupees in direct income for 24 women. Every single factor is derived from published CPCB and US EPA WARM lifecycle databases.</a:t>
            </a:r>
          </a:p>
          <a:p/>
          <a:p>
            <a:r>
              <a:t>TRANSITION TO NEXT SLIDE:</a:t>
            </a:r>
          </a:p>
          <a:p>
            <a:r>
              <a:t>Now, how does this translate into a viable business model and strategic alignment with Satin Finserv?</a:t>
            </a:r>
          </a:p>
          <a:p/>
          <a:p>
            <a:r>
              <a:t>SOURCES &amp; VERIFIED CITATIONS:</a:t>
            </a:r>
          </a:p>
          <a:p>
            <a:r>
              <a:t>US EPA Waste Reduction Model (WARM v15); CPCB Annual Report on Solid Waste Management (2020-21); NITI Aayog Assessment of Indian Waste (2021).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Our business model charges zero fees to women collectors. Revenue is generated from industrial recyclers who pay a 3 to 5 percent sourcing premium for clean, uncontaminated feedstock, and corporate brands subscribing for EPR traceability. For Satin Finserv, EcoSakhi solves the core bottleneck of rural climate finance: underwriting unbanked women without credit scores. Months of verified digital scale weighments and cash flows provide an audited operational footprint to underwrite productive green assets like e-cargo loaders with lower default risk.</a:t>
            </a:r>
          </a:p>
          <a:p/>
          <a:p>
            <a:r>
              <a:t>TRANSITION TO NEXT SLIDE:</a:t>
            </a:r>
          </a:p>
          <a:p>
            <a:r>
              <a:t>Let us examine how this vision can be implemented through a pragmatic, scalable roadmap.</a:t>
            </a:r>
          </a:p>
          <a:p/>
          <a:p>
            <a:r>
              <a:t>SOURCES &amp; VERIFIED CITATIONS:</a:t>
            </a:r>
          </a:p>
          <a:p>
            <a:r>
              <a:t>CPCB EPR Regulations (2022); RBI Master Directions on Microfinance Loans (2022); Digital Personal Data Protection Act (2023).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Our rollout roadmap is phased and grounded in operational discipline. Stage 1 focuses on a single municipal ward of 1,000 households and 24 SHG collectors to validate scale weighbridge tolerances and payout speeds. Stage 2 expands to 5 urban clusters and 250 collectors, testing our Climate Activity Profile within Satin Finserv's credit sandbox. We have proactively designed mitigations for key operational risks—preventing off-platform cash leakage through bulk price premiums and addressing digital literacy with icon-driven, voice-assisted interfaces.</a:t>
            </a:r>
          </a:p>
          <a:p/>
          <a:p>
            <a:r>
              <a:t>TRANSITION TO NEXT SLIDE:</a:t>
            </a:r>
          </a:p>
          <a:p>
            <a:r>
              <a:t>In conclusion, let us revisit the core vision of EcoSakhi.</a:t>
            </a:r>
          </a:p>
          <a:p/>
          <a:p>
            <a:r>
              <a:t>SOURCES &amp; VERIFIED CITATIONS:</a:t>
            </a:r>
          </a:p>
          <a:p>
            <a:r>
              <a:t>Deendayal Antyodaya Yojana - National Urban Livelihoods Mission (DAY-NULM) Framework; Tamil Nadu Urban Sanitation &amp; Waste Management Policy.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SPOKEN MESSAGE (~18-20 sec):</a:t>
            </a:r>
          </a:p>
          <a:p>
            <a:r>
              <a:t>Judges, EcoSakhi is not just a hackathon concept—it is a live, working platform that bridges environmental sustainability with gender empowerment and inclusive finance. By transforming unmanaged dry waste into verifiable digital records, we provide women collectors with fair earnings today and the financial identity to build productive livelihoods tomorrow. We invite Satin Finserv to partner with us in mentoring our team and validating this platform in our upcoming pilot. Thank you, and we welcome your questions.</a:t>
            </a:r>
          </a:p>
          <a:p/>
          <a:p>
            <a:r>
              <a:t>TRANSITION TO NEXT SLIDE:</a:t>
            </a:r>
          </a:p>
          <a:p>
            <a:r>
              <a:t>End of Presentation. Open for jury Q&amp;A.</a:t>
            </a:r>
          </a:p>
          <a:p/>
          <a:p>
            <a:r>
              <a:t>SOURCES &amp; VERIFIED CITATIONS:</a:t>
            </a:r>
          </a:p>
          <a:p>
            <a:r>
              <a:t>EcoSakhi Final Competition Pitch Deck v1.0. Prepared for SANKALP by Satin Finserv — The Climate Edition.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0728655"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6217920" cy="5486400"/>
          </a:xfrm>
          <a:prstGeom prst="rect">
            <a:avLst/>
          </a:prstGeom>
          <a:noFill/>
        </p:spPr>
        <p:txBody>
          <a:bodyPr wrap="square" lIns="0" rIns="0" tIns="0" bIns="0">
            <a:spAutoFit/>
          </a:bodyPr>
          <a:lstStyle/>
          <a:p>
            <a:pPr>
              <a:spcAft>
                <a:spcPts val="600"/>
              </a:spcAft>
              <a:defRPr sz="1000" b="1">
                <a:solidFill>
                  <a:srgbClr val="059669"/>
                </a:solidFill>
              </a:defRPr>
            </a:pPr>
            <a:r>
              <a:t>SANKALP BY SATIN FINSERV — THE CLIMATE EDITION | STUDENT TRACK</a:t>
            </a:r>
          </a:p>
          <a:p>
            <a:pPr>
              <a:spcAft>
                <a:spcPts val="200"/>
              </a:spcAft>
              <a:defRPr sz="4000" b="1">
                <a:solidFill>
                  <a:srgbClr val="064E3B"/>
                </a:solidFill>
              </a:defRPr>
            </a:pPr>
            <a:r>
              <a:t>EcoSakhi</a:t>
            </a:r>
          </a:p>
          <a:p>
            <a:pPr>
              <a:spcAft>
                <a:spcPts val="1200"/>
              </a:spcAft>
              <a:defRPr sz="1600" b="1">
                <a:solidFill>
                  <a:srgbClr val="0F172A"/>
                </a:solidFill>
              </a:defRPr>
            </a:pPr>
            <a:r>
              <a:t>Turning Waste into Women's Economic Opportunity</a:t>
            </a:r>
          </a:p>
          <a:p>
            <a:pPr>
              <a:spcAft>
                <a:spcPts val="1400"/>
              </a:spcAft>
              <a:defRPr sz="1100">
                <a:solidFill>
                  <a:srgbClr val="334155"/>
                </a:solidFill>
              </a:defRPr>
            </a:pPr>
            <a:r>
              <a:t>A connected circular-economy platform that links urban households, women-led Self-Help Groups (SHGs), industrial recyclers, and financial institutions through digital collection requests, calibrated weighments, transparent earnings, and verifiable recycling traceability.</a:t>
            </a:r>
          </a:p>
        </p:txBody>
      </p:sp>
      <p:sp>
        <p:nvSpPr>
          <p:cNvPr id="5" name="Rounded Rectangle 4"/>
          <p:cNvSpPr/>
          <p:nvPr/>
        </p:nvSpPr>
        <p:spPr>
          <a:xfrm>
            <a:off x="731520" y="2926080"/>
            <a:ext cx="6217920" cy="155448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00" b="1">
                <a:solidFill>
                  <a:srgbClr val="064E3B"/>
                </a:solidFill>
              </a:defRPr>
            </a:pPr>
            <a:r>
              <a:t>Core Innovation Pillars</a:t>
            </a:r>
          </a:p>
          <a:p>
            <a:pPr>
              <a:spcAft>
                <a:spcPts val="300"/>
              </a:spcAft>
              <a:defRPr sz="950">
                <a:solidFill>
                  <a:srgbClr val="334155"/>
                </a:solidFill>
              </a:defRPr>
            </a:pPr>
            <a:r>
              <a:t>• Traceable Household Collection: Digital pickup passes with transparent indicative scrap pricing.</a:t>
            </a:r>
          </a:p>
          <a:p>
            <a:pPr>
              <a:spcAft>
                <a:spcPts val="300"/>
              </a:spcAft>
              <a:defRPr sz="950">
                <a:solidFill>
                  <a:srgbClr val="334155"/>
                </a:solidFill>
              </a:defRPr>
            </a:pPr>
            <a:r>
              <a:t>• Women SHG Livelihood Formalization: Digital scale receipts, instant ledger payout, eliminating middleman cuts.</a:t>
            </a:r>
          </a:p>
          <a:p>
            <a:pPr>
              <a:spcAft>
                <a:spcPts val="300"/>
              </a:spcAft>
              <a:defRPr sz="950">
                <a:solidFill>
                  <a:srgbClr val="334155"/>
                </a:solidFill>
              </a:defRPr>
            </a:pPr>
            <a:r>
              <a:t>• Climate Microfinance Readiness: Transforming physical recycling logs into operational data for green asset loans.</a:t>
            </a:r>
          </a:p>
        </p:txBody>
      </p:sp>
      <p:sp>
        <p:nvSpPr>
          <p:cNvPr id="6" name="Rounded Rectangle 5"/>
          <p:cNvSpPr/>
          <p:nvPr/>
        </p:nvSpPr>
        <p:spPr>
          <a:xfrm>
            <a:off x="731520" y="4663440"/>
            <a:ext cx="6217920" cy="15544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00" b="1">
                <a:solidFill>
                  <a:srgbClr val="0F172A"/>
                </a:solidFill>
              </a:defRPr>
            </a:pPr>
            <a:r>
              <a:t>Competition &amp; Team Details</a:t>
            </a:r>
          </a:p>
          <a:p>
            <a:pPr>
              <a:spcAft>
                <a:spcPts val="300"/>
              </a:spcAft>
              <a:defRPr sz="950">
                <a:solidFill>
                  <a:srgbClr val="334155"/>
                </a:solidFill>
              </a:defRPr>
            </a:pPr>
            <a:r>
              <a:t>Competition: SANKALP by Satin Finserv — The Climate Edition (Student Track, Oct 2026)</a:t>
            </a:r>
          </a:p>
          <a:p>
            <a:pPr>
              <a:spcAft>
                <a:spcPts val="300"/>
              </a:spcAft>
              <a:defRPr sz="950">
                <a:solidFill>
                  <a:srgbClr val="334155"/>
                </a:solidFill>
              </a:defRPr>
            </a:pPr>
            <a:r>
              <a:t>Team: Team EcoSakhi (Student Innovators) — Lead Product Architect • Full-Stack Engineer • Climate Researcher</a:t>
            </a:r>
          </a:p>
          <a:p>
            <a:pPr>
              <a:spcAft>
                <a:spcPts val="300"/>
              </a:spcAft>
              <a:defRPr sz="950">
                <a:solidFill>
                  <a:srgbClr val="334155"/>
                </a:solidFill>
              </a:defRPr>
            </a:pPr>
            <a:r>
              <a:t>Prototype Status: Live React 19 / Vite Application (Verified on Local Port 5174 with zero mock dependencies)</a:t>
            </a:r>
          </a:p>
        </p:txBody>
      </p:sp>
      <p:sp>
        <p:nvSpPr>
          <p:cNvPr id="7" name="Rounded Rectangle 6"/>
          <p:cNvSpPr/>
          <p:nvPr/>
        </p:nvSpPr>
        <p:spPr>
          <a:xfrm>
            <a:off x="7223760" y="914400"/>
            <a:ext cx="420624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nding_opt.jpg"/>
          <p:cNvPicPr>
            <a:picLocks noChangeAspect="1"/>
          </p:cNvPicPr>
          <p:nvPr/>
        </p:nvPicPr>
        <p:blipFill>
          <a:blip r:embed="rId2"/>
          <a:stretch>
            <a:fillRect/>
          </a:stretch>
        </p:blipFill>
        <p:spPr>
          <a:xfrm>
            <a:off x="7296912" y="987552"/>
            <a:ext cx="4059936" cy="4919472"/>
          </a:xfrm>
          <a:prstGeom prst="rect">
            <a:avLst/>
          </a:prstGeom>
        </p:spPr>
      </p:pic>
      <p:sp>
        <p:nvSpPr>
          <p:cNvPr id="9" name="TextBox 8"/>
          <p:cNvSpPr txBox="1"/>
          <p:nvPr/>
        </p:nvSpPr>
        <p:spPr>
          <a:xfrm>
            <a:off x="7315200" y="5870448"/>
            <a:ext cx="4023360" cy="292608"/>
          </a:xfrm>
          <a:prstGeom prst="rect">
            <a:avLst/>
          </a:prstGeom>
          <a:noFill/>
        </p:spPr>
        <p:txBody>
          <a:bodyPr wrap="square" lIns="0" tIns="0" rIns="0" bIns="0">
            <a:spAutoFit/>
          </a:bodyPr>
          <a:lstStyle/>
          <a:p>
            <a:pPr>
              <a:defRPr sz="900">
                <a:solidFill>
                  <a:srgbClr val="64748B"/>
                </a:solidFill>
              </a:defRPr>
            </a:pPr>
            <a:r>
              <a:t>[WORKING PROTOTYPE] EcoSakhi Web Application Home &amp; Value Chain (Port 5174)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1005840"/>
          </a:xfrm>
          <a:prstGeom prst="rect">
            <a:avLst/>
          </a:prstGeom>
          <a:noFill/>
        </p:spPr>
        <p:txBody>
          <a:bodyPr wrap="square" lIns="0" tIns="0" rIns="0" bIns="0">
            <a:spAutoFit/>
          </a:bodyPr>
          <a:lstStyle/>
          <a:p>
            <a:pPr>
              <a:spcAft>
                <a:spcPts val="200"/>
              </a:spcAft>
              <a:defRPr sz="950" b="1">
                <a:solidFill>
                  <a:srgbClr val="059669"/>
                </a:solidFill>
              </a:defRPr>
            </a:pPr>
            <a:r>
              <a:t>PROBLEM CONTEXT &amp; TARGET CHALLENGE</a:t>
            </a:r>
          </a:p>
          <a:p>
            <a:pPr>
              <a:spcAft>
                <a:spcPts val="200"/>
              </a:spcAft>
              <a:defRPr sz="2200" b="1">
                <a:solidFill>
                  <a:srgbClr val="0F172A"/>
                </a:solidFill>
              </a:defRPr>
            </a:pPr>
            <a:r>
              <a:t>The Broken Waste Value Chain &amp; Invisible Livelihoods</a:t>
            </a:r>
          </a:p>
          <a:p>
            <a:pPr>
              <a:defRPr sz="1100">
                <a:solidFill>
                  <a:srgbClr val="64748B"/>
                </a:solidFill>
              </a:defRPr>
            </a:pPr>
            <a:r>
              <a:t>Millions of tonnes of recyclable materials are lost to landfills while informal women workers remain trapped in low-income cycles.</a:t>
            </a:r>
          </a:p>
        </p:txBody>
      </p:sp>
      <p:sp>
        <p:nvSpPr>
          <p:cNvPr id="5" name="Rounded Rectangle 4"/>
          <p:cNvSpPr/>
          <p:nvPr/>
        </p:nvSpPr>
        <p:spPr>
          <a:xfrm>
            <a:off x="731520" y="1691640"/>
            <a:ext cx="2542032"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D97706"/>
                </a:solidFill>
              </a:defRPr>
            </a:pPr>
            <a:r>
              <a:t>1. Urban Households</a:t>
            </a:r>
          </a:p>
          <a:p>
            <a:pPr>
              <a:spcAft>
                <a:spcPts val="300"/>
              </a:spcAft>
              <a:defRPr sz="950">
                <a:solidFill>
                  <a:srgbClr val="334155"/>
                </a:solidFill>
              </a:defRPr>
            </a:pPr>
            <a:r>
              <a:t>• 0% Price Transparency: Citizens have no visibility into the true commodity scrap value of dry waste.</a:t>
            </a:r>
          </a:p>
          <a:p>
            <a:pPr>
              <a:spcAft>
                <a:spcPts val="300"/>
              </a:spcAft>
              <a:defRPr sz="950">
                <a:solidFill>
                  <a:srgbClr val="334155"/>
                </a:solidFill>
              </a:defRPr>
            </a:pPr>
            <a:r>
              <a:t>• Unsegregated Disposal: Recyclables mix with wet waste at source, degrading recyclability.</a:t>
            </a:r>
          </a:p>
          <a:p>
            <a:pPr>
              <a:spcAft>
                <a:spcPts val="300"/>
              </a:spcAft>
              <a:defRPr sz="950">
                <a:solidFill>
                  <a:srgbClr val="334155"/>
                </a:solidFill>
              </a:defRPr>
            </a:pPr>
            <a:r>
              <a:t>• Zero Recycling Feedback: Citizens lack confirmation that their segregated waste reached a formal recycler.</a:t>
            </a:r>
          </a:p>
          <a:p>
            <a:pPr>
              <a:spcAft>
                <a:spcPts val="300"/>
              </a:spcAft>
              <a:defRPr sz="950">
                <a:solidFill>
                  <a:srgbClr val="334155"/>
                </a:solidFill>
              </a:defRPr>
            </a:pPr>
            <a:r>
              <a:t>• Result: High landfill dumping and apathy toward segregation.</a:t>
            </a:r>
          </a:p>
        </p:txBody>
      </p:sp>
      <p:sp>
        <p:nvSpPr>
          <p:cNvPr id="6" name="Rounded Rectangle 5"/>
          <p:cNvSpPr/>
          <p:nvPr/>
        </p:nvSpPr>
        <p:spPr>
          <a:xfrm>
            <a:off x="3456432" y="1691640"/>
            <a:ext cx="2542032" cy="329184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64E3B"/>
                </a:solidFill>
              </a:defRPr>
            </a:pPr>
            <a:r>
              <a:t>2. Women SHG Collectors</a:t>
            </a:r>
          </a:p>
          <a:p>
            <a:pPr>
              <a:spcAft>
                <a:spcPts val="300"/>
              </a:spcAft>
              <a:defRPr sz="950">
                <a:solidFill>
                  <a:srgbClr val="334155"/>
                </a:solidFill>
              </a:defRPr>
            </a:pPr>
            <a:r>
              <a:t>• Severe Price Distortion: Middlemen capture up to 85% of end-value; SHGs receive low, volatile rates.</a:t>
            </a:r>
          </a:p>
          <a:p>
            <a:pPr>
              <a:spcAft>
                <a:spcPts val="300"/>
              </a:spcAft>
              <a:defRPr sz="950">
                <a:solidFill>
                  <a:srgbClr val="334155"/>
                </a:solidFill>
              </a:defRPr>
            </a:pPr>
            <a:r>
              <a:t>• Zero Verifiable Records: Physical labor is conducted entirely in unrecorded cash transactions.</a:t>
            </a:r>
          </a:p>
          <a:p>
            <a:pPr>
              <a:spcAft>
                <a:spcPts val="300"/>
              </a:spcAft>
              <a:defRPr sz="950">
                <a:solidFill>
                  <a:srgbClr val="334155"/>
                </a:solidFill>
              </a:defRPr>
            </a:pPr>
            <a:r>
              <a:t>• Financial Exclusion: Banks and NBFCs cannot verify informal income, rejecting loan applications.</a:t>
            </a:r>
          </a:p>
          <a:p>
            <a:pPr>
              <a:spcAft>
                <a:spcPts val="300"/>
              </a:spcAft>
              <a:defRPr sz="950">
                <a:solidFill>
                  <a:srgbClr val="334155"/>
                </a:solidFill>
              </a:defRPr>
            </a:pPr>
            <a:r>
              <a:t>• Result: Vulnerable workers trapped in poverty without assets.</a:t>
            </a:r>
          </a:p>
        </p:txBody>
      </p:sp>
      <p:sp>
        <p:nvSpPr>
          <p:cNvPr id="7" name="Rounded Rectangle 6"/>
          <p:cNvSpPr/>
          <p:nvPr/>
        </p:nvSpPr>
        <p:spPr>
          <a:xfrm>
            <a:off x="6181344" y="1691640"/>
            <a:ext cx="2542032"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D9488"/>
                </a:solidFill>
              </a:defRPr>
            </a:pPr>
            <a:r>
              <a:t>3. Certified Recyclers</a:t>
            </a:r>
          </a:p>
          <a:p>
            <a:pPr>
              <a:spcAft>
                <a:spcPts val="300"/>
              </a:spcAft>
              <a:defRPr sz="950">
                <a:solidFill>
                  <a:srgbClr val="334155"/>
                </a:solidFill>
              </a:defRPr>
            </a:pPr>
            <a:r>
              <a:t>• High Contamination Loss: 15% to 25% of inbound scrap is contaminated, driving up processing costs.</a:t>
            </a:r>
          </a:p>
          <a:p>
            <a:pPr>
              <a:spcAft>
                <a:spcPts val="300"/>
              </a:spcAft>
              <a:defRPr sz="950">
                <a:solidFill>
                  <a:srgbClr val="334155"/>
                </a:solidFill>
              </a:defRPr>
            </a:pPr>
            <a:r>
              <a:t>• Supply Volatility: Sourcing relies on fragmented, unpredictable informal dealer networks.</a:t>
            </a:r>
          </a:p>
          <a:p>
            <a:pPr>
              <a:spcAft>
                <a:spcPts val="300"/>
              </a:spcAft>
              <a:defRPr sz="950">
                <a:solidFill>
                  <a:srgbClr val="334155"/>
                </a:solidFill>
              </a:defRPr>
            </a:pPr>
            <a:r>
              <a:t>• EPR Compliance Gaps: Recyclers struggle to provide audited provenance demanded by MoEFCC guidelines.</a:t>
            </a:r>
          </a:p>
          <a:p>
            <a:pPr>
              <a:spcAft>
                <a:spcPts val="300"/>
              </a:spcAft>
              <a:defRPr sz="950">
                <a:solidFill>
                  <a:srgbClr val="334155"/>
                </a:solidFill>
              </a:defRPr>
            </a:pPr>
            <a:r>
              <a:t>• Result: Suboptimal factory utilization and compliance risks.</a:t>
            </a:r>
          </a:p>
        </p:txBody>
      </p:sp>
      <p:sp>
        <p:nvSpPr>
          <p:cNvPr id="8" name="Rounded Rectangle 7"/>
          <p:cNvSpPr/>
          <p:nvPr/>
        </p:nvSpPr>
        <p:spPr>
          <a:xfrm>
            <a:off x="8906256" y="1691640"/>
            <a:ext cx="2542032"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F172A"/>
                </a:solidFill>
              </a:defRPr>
            </a:pPr>
            <a:r>
              <a:t>4. Climate Lenders (MFIs)</a:t>
            </a:r>
          </a:p>
          <a:p>
            <a:pPr>
              <a:spcAft>
                <a:spcPts val="300"/>
              </a:spcAft>
              <a:defRPr sz="950">
                <a:solidFill>
                  <a:srgbClr val="334155"/>
                </a:solidFill>
              </a:defRPr>
            </a:pPr>
            <a:r>
              <a:t>• High Acquisition Overhead: Verifying unbanked rural/urban women costs ₹2,500–₹4,000 per borrower.</a:t>
            </a:r>
          </a:p>
          <a:p>
            <a:pPr>
              <a:spcAft>
                <a:spcPts val="300"/>
              </a:spcAft>
              <a:defRPr sz="950">
                <a:solidFill>
                  <a:srgbClr val="334155"/>
                </a:solidFill>
              </a:defRPr>
            </a:pPr>
            <a:r>
              <a:t>• Absence of Credit Data: No CIBIL scores or formal tax records for informal waste workers.</a:t>
            </a:r>
          </a:p>
          <a:p>
            <a:pPr>
              <a:spcAft>
                <a:spcPts val="300"/>
              </a:spcAft>
              <a:defRPr sz="950">
                <a:solidFill>
                  <a:srgbClr val="334155"/>
                </a:solidFill>
              </a:defRPr>
            </a:pPr>
            <a:r>
              <a:t>• Underwriting Blindspot: Cannot verify whether financed assets (e.g. e-loaders) generate sustainable cash flow.</a:t>
            </a:r>
          </a:p>
          <a:p>
            <a:pPr>
              <a:spcAft>
                <a:spcPts val="300"/>
              </a:spcAft>
              <a:defRPr sz="950">
                <a:solidFill>
                  <a:srgbClr val="334155"/>
                </a:solidFill>
              </a:defRPr>
            </a:pPr>
            <a:r>
              <a:t>• Result: Underserved green microfinance market.</a:t>
            </a:r>
          </a:p>
        </p:txBody>
      </p:sp>
      <p:sp>
        <p:nvSpPr>
          <p:cNvPr id="9" name="Rounded Rectangle 8"/>
          <p:cNvSpPr/>
          <p:nvPr/>
        </p:nvSpPr>
        <p:spPr>
          <a:xfrm>
            <a:off x="731520" y="5166360"/>
            <a:ext cx="10728655" cy="1234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00" b="1">
                <a:solidFill>
                  <a:srgbClr val="064E3B"/>
                </a:solidFill>
              </a:defRPr>
            </a:pPr>
            <a:r>
              <a:t>Empirical Evidence &amp; Verified Benchmarks</a:t>
            </a:r>
          </a:p>
          <a:p>
            <a:pPr>
              <a:spcAft>
                <a:spcPts val="300"/>
              </a:spcAft>
              <a:defRPr sz="900">
                <a:solidFill>
                  <a:srgbClr val="334155"/>
                </a:solidFill>
              </a:defRPr>
            </a:pPr>
            <a:r>
              <a:t>• Municipal Solid Waste: India generates ~62 million tonnes of MSW annually; ~25% is recyclable dry scrap (CPCB 2020–21; NITI Aayog 2021).</a:t>
            </a:r>
          </a:p>
          <a:p>
            <a:pPr>
              <a:spcAft>
                <a:spcPts val="300"/>
              </a:spcAft>
              <a:defRPr sz="900">
                <a:solidFill>
                  <a:srgbClr val="334155"/>
                </a:solidFill>
              </a:defRPr>
            </a:pPr>
            <a:r>
              <a:t>• Recovery Bottleneck: Less than 20% of dry recyclable waste enters formal, traceable recovery streams. While informal collectors recover 70–80% of plastics, they capture less than 15% of economic surplus due to informal intermediary extraction.</a:t>
            </a:r>
          </a:p>
          <a:p>
            <a:pPr>
              <a:spcAft>
                <a:spcPts val="300"/>
              </a:spcAft>
              <a:defRPr sz="900">
                <a:solidFill>
                  <a:srgbClr val="334155"/>
                </a:solidFill>
              </a:defRPr>
            </a:pPr>
            <a:r>
              <a:t>• Health &amp; Dignity: Women represent over 60% of informal manual sorters, yet lack safety gear, digital identities, or productive asset ownership.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1005840"/>
          </a:xfrm>
          <a:prstGeom prst="rect">
            <a:avLst/>
          </a:prstGeom>
          <a:noFill/>
        </p:spPr>
        <p:txBody>
          <a:bodyPr wrap="square" lIns="0" tIns="0" rIns="0" bIns="0">
            <a:spAutoFit/>
          </a:bodyPr>
          <a:lstStyle/>
          <a:p>
            <a:pPr>
              <a:spcAft>
                <a:spcPts val="200"/>
              </a:spcAft>
              <a:defRPr sz="950" b="1">
                <a:solidFill>
                  <a:srgbClr val="059669"/>
                </a:solidFill>
              </a:defRPr>
            </a:pPr>
            <a:r>
              <a:t>CONNECTED CIRCULAR PLATFORM</a:t>
            </a:r>
          </a:p>
          <a:p>
            <a:pPr>
              <a:spcAft>
                <a:spcPts val="200"/>
              </a:spcAft>
              <a:defRPr sz="2200" b="1">
                <a:solidFill>
                  <a:srgbClr val="0F172A"/>
                </a:solidFill>
              </a:defRPr>
            </a:pPr>
            <a:r>
              <a:t>EcoSakhi: Bridging Collection, Traceability &amp; Financial Readiness</a:t>
            </a:r>
          </a:p>
          <a:p>
            <a:pPr>
              <a:defRPr sz="1100">
                <a:solidFill>
                  <a:srgbClr val="64748B"/>
                </a:solidFill>
              </a:defRPr>
            </a:pPr>
            <a:r>
              <a:t>A connected four-way platform turning recyclable waste into traceable community value and verified livelihoods.</a:t>
            </a:r>
          </a:p>
        </p:txBody>
      </p:sp>
      <p:sp>
        <p:nvSpPr>
          <p:cNvPr id="5" name="Rounded Rectangle 4"/>
          <p:cNvSpPr/>
          <p:nvPr/>
        </p:nvSpPr>
        <p:spPr>
          <a:xfrm>
            <a:off x="731520" y="1600200"/>
            <a:ext cx="10728655" cy="777240"/>
          </a:xfrm>
          <a:prstGeom prst="round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defRPr sz="950" b="1">
                <a:solidFill>
                  <a:srgbClr val="10B981"/>
                </a:solidFill>
              </a:defRPr>
            </a:pPr>
            <a:r>
              <a:t>CORE VALUE PROPOSITION:</a:t>
            </a:r>
          </a:p>
          <a:p>
            <a:pPr>
              <a:defRPr sz="1200" b="1">
                <a:solidFill>
                  <a:srgbClr val="FFFFFF"/>
                </a:solidFill>
              </a:defRPr>
            </a:pPr>
            <a:r>
              <a:t>EcoSakhi unites households, women-led SHGs, certified recyclers, and financial institutions through digital pickup scheduling, calibrated weighments, transparent pricing, and verifiable recycling custody.</a:t>
            </a:r>
          </a:p>
        </p:txBody>
      </p:sp>
      <p:sp>
        <p:nvSpPr>
          <p:cNvPr id="6" name="Rounded Rectangle 5"/>
          <p:cNvSpPr/>
          <p:nvPr/>
        </p:nvSpPr>
        <p:spPr>
          <a:xfrm>
            <a:off x="731520" y="2514600"/>
            <a:ext cx="2542032"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50" b="1">
                <a:solidFill>
                  <a:srgbClr val="D97706"/>
                </a:solidFill>
              </a:defRPr>
            </a:pPr>
            <a:r>
              <a:t>Step 1: Citizen Scheduling</a:t>
            </a:r>
          </a:p>
          <a:p>
            <a:pPr>
              <a:spcAft>
                <a:spcPts val="300"/>
              </a:spcAft>
              <a:defRPr sz="900">
                <a:solidFill>
                  <a:srgbClr val="334155"/>
                </a:solidFill>
              </a:defRPr>
            </a:pPr>
            <a:r>
              <a:t>• Mobile/Web Booking: Households select scrap type (PET, Paper, Metals, E-Waste) and schedule slots.</a:t>
            </a:r>
          </a:p>
          <a:p>
            <a:pPr>
              <a:spcAft>
                <a:spcPts val="300"/>
              </a:spcAft>
              <a:defRPr sz="900">
                <a:solidFill>
                  <a:srgbClr val="334155"/>
                </a:solidFill>
              </a:defRPr>
            </a:pPr>
            <a:r>
              <a:t>• Instant Indicative Value: Algorithmic pricing provides clear price expectations (e.g. ₹16/kg PET).</a:t>
            </a:r>
          </a:p>
          <a:p>
            <a:pPr>
              <a:spcAft>
                <a:spcPts val="300"/>
              </a:spcAft>
              <a:defRPr sz="900">
                <a:solidFill>
                  <a:srgbClr val="334155"/>
                </a:solidFill>
              </a:defRPr>
            </a:pPr>
            <a:r>
              <a:t>• Digital Pickup Pass: Generates a verification pass with QR code.</a:t>
            </a:r>
          </a:p>
          <a:p>
            <a:pPr>
              <a:spcAft>
                <a:spcPts val="300"/>
              </a:spcAft>
              <a:defRPr sz="900">
                <a:solidFill>
                  <a:srgbClr val="334155"/>
                </a:solidFill>
              </a:defRPr>
            </a:pPr>
            <a:r>
              <a:t>• Impact Feedback: Real-time calculation of avoided household CO2e footprint.</a:t>
            </a:r>
          </a:p>
        </p:txBody>
      </p:sp>
      <p:sp>
        <p:nvSpPr>
          <p:cNvPr id="7" name="Rounded Rectangle 6"/>
          <p:cNvSpPr/>
          <p:nvPr/>
        </p:nvSpPr>
        <p:spPr>
          <a:xfrm>
            <a:off x="3456432" y="2514600"/>
            <a:ext cx="2542032" cy="393192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50" b="1">
                <a:solidFill>
                  <a:srgbClr val="064E3B"/>
                </a:solidFill>
              </a:defRPr>
            </a:pPr>
            <a:r>
              <a:t>Step 2: SHG Collection &amp; Weigh</a:t>
            </a:r>
          </a:p>
          <a:p>
            <a:pPr>
              <a:spcAft>
                <a:spcPts val="300"/>
              </a:spcAft>
              <a:defRPr sz="900">
                <a:solidFill>
                  <a:srgbClr val="334155"/>
                </a:solidFill>
              </a:defRPr>
            </a:pPr>
            <a:r>
              <a:t>• Real-Time Job Queue: Collector views nearby requests and accepts jobs with 1 tap.</a:t>
            </a:r>
          </a:p>
          <a:p>
            <a:pPr>
              <a:spcAft>
                <a:spcPts val="300"/>
              </a:spcAft>
              <a:defRPr sz="900">
                <a:solidFill>
                  <a:srgbClr val="334155"/>
                </a:solidFill>
              </a:defRPr>
            </a:pPr>
            <a:r>
              <a:t>• Calibrated Scale Weighment: Logs verified kilograms at doorstep (e.g. 12.5 kg).</a:t>
            </a:r>
          </a:p>
          <a:p>
            <a:pPr>
              <a:spcAft>
                <a:spcPts val="300"/>
              </a:spcAft>
              <a:defRPr sz="900">
                <a:solidFill>
                  <a:srgbClr val="334155"/>
                </a:solidFill>
              </a:defRPr>
            </a:pPr>
            <a:r>
              <a:t>• Digital Receipt &amp; Audit Hash: Issues instant digital receipt with cryptographic SHA-256 hash.</a:t>
            </a:r>
          </a:p>
          <a:p>
            <a:pPr>
              <a:spcAft>
                <a:spcPts val="300"/>
              </a:spcAft>
              <a:defRPr sz="900">
                <a:solidFill>
                  <a:srgbClr val="334155"/>
                </a:solidFill>
              </a:defRPr>
            </a:pPr>
            <a:r>
              <a:t>• Direct Wallet Payout: ₹200 credited immediately to SHG wallet, eliminating middlemen.</a:t>
            </a:r>
          </a:p>
        </p:txBody>
      </p:sp>
      <p:sp>
        <p:nvSpPr>
          <p:cNvPr id="8" name="Rounded Rectangle 7"/>
          <p:cNvSpPr/>
          <p:nvPr/>
        </p:nvSpPr>
        <p:spPr>
          <a:xfrm>
            <a:off x="6181344" y="2514600"/>
            <a:ext cx="2542032"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50" b="1">
                <a:solidFill>
                  <a:srgbClr val="0D9488"/>
                </a:solidFill>
              </a:defRPr>
            </a:pPr>
            <a:r>
              <a:t>Step 3: Recycler Gate Audit</a:t>
            </a:r>
          </a:p>
          <a:p>
            <a:pPr>
              <a:spcAft>
                <a:spcPts val="300"/>
              </a:spcAft>
              <a:defRPr sz="900">
                <a:solidFill>
                  <a:srgbClr val="334155"/>
                </a:solidFill>
              </a:defRPr>
            </a:pPr>
            <a:r>
              <a:t>• Batch Aggregation: Multiple curb pickups consolidated into industrial dispatch batches.</a:t>
            </a:r>
          </a:p>
          <a:p>
            <a:pPr>
              <a:spcAft>
                <a:spcPts val="300"/>
              </a:spcAft>
              <a:defRPr sz="900">
                <a:solidFill>
                  <a:srgbClr val="334155"/>
                </a:solidFill>
              </a:defRPr>
            </a:pPr>
            <a:r>
              <a:t>• Weighbridge Reconciliation: Recycler gate scale confirms tonnage within ±2% tolerance threshold.</a:t>
            </a:r>
          </a:p>
          <a:p>
            <a:pPr>
              <a:spcAft>
                <a:spcPts val="300"/>
              </a:spcAft>
              <a:defRPr sz="900">
                <a:solidFill>
                  <a:srgbClr val="334155"/>
                </a:solidFill>
              </a:defRPr>
            </a:pPr>
            <a:r>
              <a:t>• Contamination Scoring: AI and manual grading confirm purity.</a:t>
            </a:r>
          </a:p>
          <a:p>
            <a:pPr>
              <a:spcAft>
                <a:spcPts val="300"/>
              </a:spcAft>
              <a:defRPr sz="900">
                <a:solidFill>
                  <a:srgbClr val="334155"/>
                </a:solidFill>
              </a:defRPr>
            </a:pPr>
            <a:r>
              <a:t>• Escrow Fund Release: Wholesale payment released securely to SHG collective account.</a:t>
            </a:r>
          </a:p>
        </p:txBody>
      </p:sp>
      <p:sp>
        <p:nvSpPr>
          <p:cNvPr id="9" name="Rounded Rectangle 8"/>
          <p:cNvSpPr/>
          <p:nvPr/>
        </p:nvSpPr>
        <p:spPr>
          <a:xfrm>
            <a:off x="8906256" y="2514600"/>
            <a:ext cx="2542032"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50" b="1">
                <a:solidFill>
                  <a:srgbClr val="0F172A"/>
                </a:solidFill>
              </a:defRPr>
            </a:pPr>
            <a:r>
              <a:t>Step 4: Financial Readiness</a:t>
            </a:r>
          </a:p>
          <a:p>
            <a:pPr>
              <a:spcAft>
                <a:spcPts val="300"/>
              </a:spcAft>
              <a:defRPr sz="900">
                <a:solidFill>
                  <a:srgbClr val="334155"/>
                </a:solidFill>
              </a:defRPr>
            </a:pPr>
            <a:r>
              <a:t>• Climate Activity Profile: Tracks collection consistency (91%), purity (88%), and tonnage.</a:t>
            </a:r>
          </a:p>
          <a:p>
            <a:pPr>
              <a:spcAft>
                <a:spcPts val="300"/>
              </a:spcAft>
              <a:defRPr sz="900">
                <a:solidFill>
                  <a:srgbClr val="334155"/>
                </a:solidFill>
              </a:defRPr>
            </a:pPr>
            <a:r>
              <a:t>• 82/100 Climate Score: Operational activity index (clearly separated from credit bureau CIBIL).</a:t>
            </a:r>
          </a:p>
          <a:p>
            <a:pPr>
              <a:spcAft>
                <a:spcPts val="300"/>
              </a:spcAft>
              <a:defRPr sz="900">
                <a:solidFill>
                  <a:srgbClr val="334155"/>
                </a:solidFill>
              </a:defRPr>
            </a:pPr>
            <a:r>
              <a:t>• Asset Finance Matching: Ready underwriting packet for partner loans (e.g. Green Cargo e-Loader).</a:t>
            </a:r>
          </a:p>
          <a:p>
            <a:pPr>
              <a:spcAft>
                <a:spcPts val="300"/>
              </a:spcAft>
              <a:defRPr sz="900">
                <a:solidFill>
                  <a:srgbClr val="334155"/>
                </a:solidFill>
              </a:defRPr>
            </a:pPr>
            <a:r>
              <a:t>• DPDP Act Consent: Data shared with lenders only upon explicit, informed user consent.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1005840"/>
          </a:xfrm>
          <a:prstGeom prst="rect">
            <a:avLst/>
          </a:prstGeom>
          <a:noFill/>
        </p:spPr>
        <p:txBody>
          <a:bodyPr wrap="square" lIns="0" tIns="0" rIns="0" bIns="0">
            <a:spAutoFit/>
          </a:bodyPr>
          <a:lstStyle/>
          <a:p>
            <a:pPr>
              <a:spcAft>
                <a:spcPts val="200"/>
              </a:spcAft>
              <a:defRPr sz="950" b="1">
                <a:solidFill>
                  <a:srgbClr val="059669"/>
                </a:solidFill>
              </a:defRPr>
            </a:pPr>
            <a:r>
              <a:t>WORKING PROTOTYPE DEMONSTRATION</a:t>
            </a:r>
          </a:p>
          <a:p>
            <a:pPr>
              <a:spcAft>
                <a:spcPts val="200"/>
              </a:spcAft>
              <a:defRPr sz="2200" b="1">
                <a:solidFill>
                  <a:srgbClr val="0F172A"/>
                </a:solidFill>
              </a:defRPr>
            </a:pPr>
            <a:r>
              <a:t>Genuine Product Demonstration: End-to-End User Flow</a:t>
            </a:r>
          </a:p>
          <a:p>
            <a:pPr>
              <a:defRPr sz="1100">
                <a:solidFill>
                  <a:srgbClr val="64748B"/>
                </a:solidFill>
              </a:defRPr>
            </a:pPr>
            <a:r>
              <a:t>Verified screenshots from the active EcoSakhi web application (React 19 / Localhost Port 5174).</a:t>
            </a:r>
          </a:p>
        </p:txBody>
      </p:sp>
      <p:sp>
        <p:nvSpPr>
          <p:cNvPr id="5" name="Rounded Rectangle 4"/>
          <p:cNvSpPr/>
          <p:nvPr/>
        </p:nvSpPr>
        <p:spPr>
          <a:xfrm>
            <a:off x="731520" y="1691640"/>
            <a:ext cx="521208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ickup_opt.jpg"/>
          <p:cNvPicPr>
            <a:picLocks noChangeAspect="1"/>
          </p:cNvPicPr>
          <p:nvPr/>
        </p:nvPicPr>
        <p:blipFill>
          <a:blip r:embed="rId2"/>
          <a:stretch>
            <a:fillRect/>
          </a:stretch>
        </p:blipFill>
        <p:spPr>
          <a:xfrm>
            <a:off x="804672" y="1764792"/>
            <a:ext cx="5065776" cy="1764792"/>
          </a:xfrm>
          <a:prstGeom prst="rect">
            <a:avLst/>
          </a:prstGeom>
        </p:spPr>
      </p:pic>
      <p:sp>
        <p:nvSpPr>
          <p:cNvPr id="7" name="TextBox 6"/>
          <p:cNvSpPr txBox="1"/>
          <p:nvPr/>
        </p:nvSpPr>
        <p:spPr>
          <a:xfrm>
            <a:off x="822960" y="3493008"/>
            <a:ext cx="5029200" cy="292608"/>
          </a:xfrm>
          <a:prstGeom prst="rect">
            <a:avLst/>
          </a:prstGeom>
          <a:noFill/>
        </p:spPr>
        <p:txBody>
          <a:bodyPr wrap="square" lIns="0" tIns="0" rIns="0" bIns="0">
            <a:spAutoFit/>
          </a:bodyPr>
          <a:lstStyle/>
          <a:p>
            <a:pPr>
              <a:defRPr sz="900">
                <a:solidFill>
                  <a:srgbClr val="64748B"/>
                </a:solidFill>
              </a:defRPr>
            </a:pPr>
            <a:r>
              <a:t>[SCREENSHOT: CITIZEN PORTAL] Step 1: Citizen schedules pickup, selects PET plastic, views live indicative value (₹200-₹225) &amp; gets QR pass.</a:t>
            </a:r>
          </a:p>
        </p:txBody>
      </p:sp>
      <p:sp>
        <p:nvSpPr>
          <p:cNvPr id="8" name="Rounded Rectangle 7"/>
          <p:cNvSpPr/>
          <p:nvPr/>
        </p:nvSpPr>
        <p:spPr>
          <a:xfrm>
            <a:off x="6248095" y="1691640"/>
            <a:ext cx="521208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llector_opt.jpg"/>
          <p:cNvPicPr>
            <a:picLocks noChangeAspect="1"/>
          </p:cNvPicPr>
          <p:nvPr/>
        </p:nvPicPr>
        <p:blipFill>
          <a:blip r:embed="rId3"/>
          <a:stretch>
            <a:fillRect/>
          </a:stretch>
        </p:blipFill>
        <p:spPr>
          <a:xfrm>
            <a:off x="6321247" y="1764792"/>
            <a:ext cx="5065776" cy="1764792"/>
          </a:xfrm>
          <a:prstGeom prst="rect">
            <a:avLst/>
          </a:prstGeom>
        </p:spPr>
      </p:pic>
      <p:sp>
        <p:nvSpPr>
          <p:cNvPr id="10" name="TextBox 9"/>
          <p:cNvSpPr txBox="1"/>
          <p:nvPr/>
        </p:nvSpPr>
        <p:spPr>
          <a:xfrm>
            <a:off x="6339535" y="3493008"/>
            <a:ext cx="5029200" cy="292608"/>
          </a:xfrm>
          <a:prstGeom prst="rect">
            <a:avLst/>
          </a:prstGeom>
          <a:noFill/>
        </p:spPr>
        <p:txBody>
          <a:bodyPr wrap="square" lIns="0" tIns="0" rIns="0" bIns="0">
            <a:spAutoFit/>
          </a:bodyPr>
          <a:lstStyle/>
          <a:p>
            <a:pPr>
              <a:defRPr sz="900">
                <a:solidFill>
                  <a:srgbClr val="64748B"/>
                </a:solidFill>
              </a:defRPr>
            </a:pPr>
            <a:r>
              <a:t>[SCREENSHOT: COLLECTOR APP] Step 2: Lakshmi SHG accepts job, inputs 12.5 kg scale weight, and generates verified receipt (Hash 0x8f3c...).</a:t>
            </a:r>
          </a:p>
        </p:txBody>
      </p:sp>
      <p:sp>
        <p:nvSpPr>
          <p:cNvPr id="11" name="Rounded Rectangle 10"/>
          <p:cNvSpPr/>
          <p:nvPr/>
        </p:nvSpPr>
        <p:spPr>
          <a:xfrm>
            <a:off x="731520" y="3977639"/>
            <a:ext cx="521208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wallet_opt.jpg"/>
          <p:cNvPicPr>
            <a:picLocks noChangeAspect="1"/>
          </p:cNvPicPr>
          <p:nvPr/>
        </p:nvPicPr>
        <p:blipFill>
          <a:blip r:embed="rId4"/>
          <a:stretch>
            <a:fillRect/>
          </a:stretch>
        </p:blipFill>
        <p:spPr>
          <a:xfrm>
            <a:off x="804672" y="4050791"/>
            <a:ext cx="5065776" cy="1764792"/>
          </a:xfrm>
          <a:prstGeom prst="rect">
            <a:avLst/>
          </a:prstGeom>
        </p:spPr>
      </p:pic>
      <p:sp>
        <p:nvSpPr>
          <p:cNvPr id="13" name="TextBox 12"/>
          <p:cNvSpPr txBox="1"/>
          <p:nvPr/>
        </p:nvSpPr>
        <p:spPr>
          <a:xfrm>
            <a:off x="822960" y="5779007"/>
            <a:ext cx="5029200" cy="292608"/>
          </a:xfrm>
          <a:prstGeom prst="rect">
            <a:avLst/>
          </a:prstGeom>
          <a:noFill/>
        </p:spPr>
        <p:txBody>
          <a:bodyPr wrap="square" lIns="0" tIns="0" rIns="0" bIns="0">
            <a:spAutoFit/>
          </a:bodyPr>
          <a:lstStyle/>
          <a:p>
            <a:pPr>
              <a:defRPr sz="900">
                <a:solidFill>
                  <a:srgbClr val="64748B"/>
                </a:solidFill>
              </a:defRPr>
            </a:pPr>
            <a:r>
              <a:t>[SCREENSHOT: SHG WALLET] Step 3: Instant wallet ledger credit (₹200 payout; ₹5,050 balance) and Jan Dhan settlement simulation.</a:t>
            </a:r>
          </a:p>
        </p:txBody>
      </p:sp>
      <p:sp>
        <p:nvSpPr>
          <p:cNvPr id="14" name="Rounded Rectangle 13"/>
          <p:cNvSpPr/>
          <p:nvPr/>
        </p:nvSpPr>
        <p:spPr>
          <a:xfrm>
            <a:off x="6248095" y="3977639"/>
            <a:ext cx="521208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ashboard_opt.jpg"/>
          <p:cNvPicPr>
            <a:picLocks noChangeAspect="1"/>
          </p:cNvPicPr>
          <p:nvPr/>
        </p:nvPicPr>
        <p:blipFill>
          <a:blip r:embed="rId5"/>
          <a:stretch>
            <a:fillRect/>
          </a:stretch>
        </p:blipFill>
        <p:spPr>
          <a:xfrm>
            <a:off x="6321247" y="4050791"/>
            <a:ext cx="5065776" cy="1764792"/>
          </a:xfrm>
          <a:prstGeom prst="rect">
            <a:avLst/>
          </a:prstGeom>
        </p:spPr>
      </p:pic>
      <p:sp>
        <p:nvSpPr>
          <p:cNvPr id="16" name="TextBox 15"/>
          <p:cNvSpPr txBox="1"/>
          <p:nvPr/>
        </p:nvSpPr>
        <p:spPr>
          <a:xfrm>
            <a:off x="6339535" y="5779007"/>
            <a:ext cx="5029200" cy="292608"/>
          </a:xfrm>
          <a:prstGeom prst="rect">
            <a:avLst/>
          </a:prstGeom>
          <a:noFill/>
        </p:spPr>
        <p:txBody>
          <a:bodyPr wrap="square" lIns="0" tIns="0" rIns="0" bIns="0">
            <a:spAutoFit/>
          </a:bodyPr>
          <a:lstStyle/>
          <a:p>
            <a:pPr>
              <a:defRPr sz="900">
                <a:solidFill>
                  <a:srgbClr val="64748B"/>
                </a:solidFill>
              </a:defRPr>
            </a:pPr>
            <a:r>
              <a:t>[SCREENSHOT: ADMIN TELEMETRY] Step 4: Ward Circular Dashboard with live material breakdown, collection trends, and avoided CO2e.</a:t>
            </a:r>
          </a:p>
        </p:txBody>
      </p:sp>
      <p:sp>
        <p:nvSpPr>
          <p:cNvPr id="17" name="Rounded Rectangle 16"/>
          <p:cNvSpPr/>
          <p:nvPr/>
        </p:nvSpPr>
        <p:spPr>
          <a:xfrm>
            <a:off x="731520" y="6217920"/>
            <a:ext cx="10728655" cy="411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a:solidFill>
                  <a:srgbClr val="64748B"/>
                </a:solidFill>
              </a:defRPr>
            </a:pPr>
            <a:r>
              <a:t>PROTOTYPE STATUS DISCLOSURE: Core workflow, scale math, digital receipt hashing, and wallet state are fully functional. Direct banking settlement and cellular SMS gateway triggers are simulated locally in the MVP.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1005840"/>
          </a:xfrm>
          <a:prstGeom prst="rect">
            <a:avLst/>
          </a:prstGeom>
          <a:noFill/>
        </p:spPr>
        <p:txBody>
          <a:bodyPr wrap="square" lIns="0" tIns="0" rIns="0" bIns="0">
            <a:spAutoFit/>
          </a:bodyPr>
          <a:lstStyle/>
          <a:p>
            <a:pPr>
              <a:spcAft>
                <a:spcPts val="200"/>
              </a:spcAft>
              <a:defRPr sz="950" b="1">
                <a:solidFill>
                  <a:srgbClr val="059669"/>
                </a:solidFill>
              </a:defRPr>
            </a:pPr>
            <a:r>
              <a:t>TECHNICAL ARCHITECTURE &amp; INNOVATION</a:t>
            </a:r>
          </a:p>
          <a:p>
            <a:pPr>
              <a:spcAft>
                <a:spcPts val="200"/>
              </a:spcAft>
              <a:defRPr sz="2200" b="1">
                <a:solidFill>
                  <a:srgbClr val="0F172A"/>
                </a:solidFill>
              </a:defRPr>
            </a:pPr>
            <a:r>
              <a:t>Pragmatic, Low-Bandwidth Architecture Built for Field Reality</a:t>
            </a:r>
          </a:p>
          <a:p>
            <a:pPr>
              <a:defRPr sz="1100">
                <a:solidFill>
                  <a:srgbClr val="64748B"/>
                </a:solidFill>
              </a:defRPr>
            </a:pPr>
            <a:r>
              <a:t>Designed for low-cost Android smartphones, offline slum environments, and explainable AI scrap assistance.</a:t>
            </a:r>
          </a:p>
        </p:txBody>
      </p:sp>
      <p:sp>
        <p:nvSpPr>
          <p:cNvPr id="5" name="Rounded Rectangle 4"/>
          <p:cNvSpPr/>
          <p:nvPr/>
        </p:nvSpPr>
        <p:spPr>
          <a:xfrm>
            <a:off x="731520" y="1691640"/>
            <a:ext cx="621792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64E3B"/>
                </a:solidFill>
              </a:defRPr>
            </a:pPr>
            <a:r>
              <a:t>Three-Tier Platform Architecture</a:t>
            </a:r>
          </a:p>
          <a:p>
            <a:pPr>
              <a:spcAft>
                <a:spcPts val="300"/>
              </a:spcAft>
              <a:defRPr sz="919">
                <a:solidFill>
                  <a:srgbClr val="334155"/>
                </a:solidFill>
              </a:defRPr>
            </a:pPr>
            <a:r>
              <a:t>1. Progressive Web App (PWA) Client Layer:</a:t>
            </a:r>
          </a:p>
          <a:p>
            <a:pPr>
              <a:spcAft>
                <a:spcPts val="300"/>
              </a:spcAft>
              <a:defRPr sz="919">
                <a:solidFill>
                  <a:srgbClr val="334155"/>
                </a:solidFill>
              </a:defRPr>
            </a:pPr>
            <a:r>
              <a:t>  • Built with React 19, Tailwind CSS, and Lucide Icons; compiles to an ultra-lightweight 850 KB JS bundle.</a:t>
            </a:r>
          </a:p>
          <a:p>
            <a:pPr>
              <a:spcAft>
                <a:spcPts val="300"/>
              </a:spcAft>
              <a:defRPr sz="919">
                <a:solidFill>
                  <a:srgbClr val="334155"/>
                </a:solidFill>
              </a:defRPr>
            </a:pPr>
            <a:r>
              <a:t>  • Offline-first IndexedDB caching ensures collectors can record pickups in dense urban slums without cellular data.</a:t>
            </a:r>
          </a:p>
          <a:p>
            <a:pPr>
              <a:spcAft>
                <a:spcPts val="300"/>
              </a:spcAft>
              <a:defRPr sz="919">
                <a:solidFill>
                  <a:srgbClr val="334155"/>
                </a:solidFill>
              </a:defRPr>
            </a:pPr>
            <a:r>
              <a:t>  • Responsive mobile-first design runs smoothly on entry-level Android devices (2 GB RAM).</a:t>
            </a:r>
          </a:p>
          <a:p>
            <a:pPr>
              <a:spcAft>
                <a:spcPts val="300"/>
              </a:spcAft>
              <a:defRPr sz="919">
                <a:solidFill>
                  <a:srgbClr val="334155"/>
                </a:solidFill>
              </a:defRPr>
            </a:pPr>
          </a:p>
          <a:p>
            <a:pPr>
              <a:spcAft>
                <a:spcPts val="300"/>
              </a:spcAft>
              <a:defRPr sz="919">
                <a:solidFill>
                  <a:srgbClr val="334155"/>
                </a:solidFill>
              </a:defRPr>
            </a:pPr>
            <a:r>
              <a:t>2. EcoVision Edge AI Classification (Prototype):</a:t>
            </a:r>
          </a:p>
          <a:p>
            <a:pPr>
              <a:spcAft>
                <a:spcPts val="300"/>
              </a:spcAft>
              <a:defRPr sz="919">
                <a:solidFill>
                  <a:srgbClr val="334155"/>
                </a:solidFill>
              </a:defRPr>
            </a:pPr>
            <a:r>
              <a:t>  • On-device computer vision pipeline using MobileNetV4 / YOLO-nano lightweight inference architecture.</a:t>
            </a:r>
          </a:p>
          <a:p>
            <a:pPr>
              <a:spcAft>
                <a:spcPts val="300"/>
              </a:spcAft>
              <a:defRPr sz="919">
                <a:solidFill>
                  <a:srgbClr val="334155"/>
                </a:solidFill>
              </a:defRPr>
            </a:pPr>
            <a:r>
              <a:t>  • Detects scrap categories (PET bottles, metal cans, cardboard, e-waste) and alerts on visible contamination.</a:t>
            </a:r>
          </a:p>
          <a:p>
            <a:pPr>
              <a:spcAft>
                <a:spcPts val="300"/>
              </a:spcAft>
              <a:defRPr sz="919">
                <a:solidFill>
                  <a:srgbClr val="334155"/>
                </a:solidFill>
              </a:defRPr>
            </a:pPr>
            <a:r>
              <a:t>  • Prototype Disclosure: Sample inference score of 94% on test images demonstrates UI/UX integration. Ground-truth weight remains verified by physical weighing scale.</a:t>
            </a:r>
          </a:p>
          <a:p>
            <a:pPr>
              <a:spcAft>
                <a:spcPts val="300"/>
              </a:spcAft>
              <a:defRPr sz="919">
                <a:solidFill>
                  <a:srgbClr val="334155"/>
                </a:solidFill>
              </a:defRPr>
            </a:pPr>
          </a:p>
          <a:p>
            <a:pPr>
              <a:spcAft>
                <a:spcPts val="300"/>
              </a:spcAft>
              <a:defRPr sz="919">
                <a:solidFill>
                  <a:srgbClr val="334155"/>
                </a:solidFill>
              </a:defRPr>
            </a:pPr>
            <a:r>
              <a:t>3. Tamper-Evident Ledger &amp; Consent Engine:</a:t>
            </a:r>
          </a:p>
          <a:p>
            <a:pPr>
              <a:spcAft>
                <a:spcPts val="300"/>
              </a:spcAft>
              <a:defRPr sz="919">
                <a:solidFill>
                  <a:srgbClr val="334155"/>
                </a:solidFill>
              </a:defRPr>
            </a:pPr>
            <a:r>
              <a:t>  • Generates unique SHA-256 batch transaction hashes linking doorstep pickups to industrial gate receipts.</a:t>
            </a:r>
          </a:p>
          <a:p>
            <a:pPr>
              <a:spcAft>
                <a:spcPts val="300"/>
              </a:spcAft>
              <a:defRPr sz="919">
                <a:solidFill>
                  <a:srgbClr val="334155"/>
                </a:solidFill>
              </a:defRPr>
            </a:pPr>
            <a:r>
              <a:t>  • Purpose-specific consent gating aligned with India's Digital Personal Data Protection (DPDP) Act 2023.</a:t>
            </a:r>
          </a:p>
        </p:txBody>
      </p:sp>
      <p:sp>
        <p:nvSpPr>
          <p:cNvPr id="6" name="Rounded Rectangle 5"/>
          <p:cNvSpPr/>
          <p:nvPr/>
        </p:nvSpPr>
        <p:spPr>
          <a:xfrm>
            <a:off x="7132320" y="1691640"/>
            <a:ext cx="432785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covision_opt.jpg"/>
          <p:cNvPicPr>
            <a:picLocks noChangeAspect="1"/>
          </p:cNvPicPr>
          <p:nvPr/>
        </p:nvPicPr>
        <p:blipFill>
          <a:blip r:embed="rId2"/>
          <a:stretch>
            <a:fillRect/>
          </a:stretch>
        </p:blipFill>
        <p:spPr>
          <a:xfrm>
            <a:off x="7205472" y="1764792"/>
            <a:ext cx="4181551" cy="1993392"/>
          </a:xfrm>
          <a:prstGeom prst="rect">
            <a:avLst/>
          </a:prstGeom>
        </p:spPr>
      </p:pic>
      <p:sp>
        <p:nvSpPr>
          <p:cNvPr id="8" name="TextBox 7"/>
          <p:cNvSpPr txBox="1"/>
          <p:nvPr/>
        </p:nvSpPr>
        <p:spPr>
          <a:xfrm>
            <a:off x="7223760" y="3721608"/>
            <a:ext cx="4144975" cy="292608"/>
          </a:xfrm>
          <a:prstGeom prst="rect">
            <a:avLst/>
          </a:prstGeom>
          <a:noFill/>
        </p:spPr>
        <p:txBody>
          <a:bodyPr wrap="square" lIns="0" tIns="0" rIns="0" bIns="0">
            <a:spAutoFit/>
          </a:bodyPr>
          <a:lstStyle/>
          <a:p>
            <a:pPr>
              <a:defRPr sz="900">
                <a:solidFill>
                  <a:srgbClr val="64748B"/>
                </a:solidFill>
              </a:defRPr>
            </a:pPr>
            <a:r>
              <a:t>[AI ASSISTANT PROTOTYPE] EcoVision AI Scanner (94% confidence demo on PET test image).</a:t>
            </a:r>
          </a:p>
        </p:txBody>
      </p:sp>
      <p:sp>
        <p:nvSpPr>
          <p:cNvPr id="9" name="Rounded Rectangle 8"/>
          <p:cNvSpPr/>
          <p:nvPr/>
        </p:nvSpPr>
        <p:spPr>
          <a:xfrm>
            <a:off x="7132320" y="4206240"/>
            <a:ext cx="4327855" cy="178308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00" b="1">
                <a:solidFill>
                  <a:srgbClr val="064E3B"/>
                </a:solidFill>
              </a:defRPr>
            </a:pPr>
            <a:r>
              <a:t>Honest Capability Classification</a:t>
            </a:r>
          </a:p>
          <a:p>
            <a:pPr>
              <a:spcAft>
                <a:spcPts val="300"/>
              </a:spcAft>
              <a:defRPr sz="880">
                <a:solidFill>
                  <a:srgbClr val="334155"/>
                </a:solidFill>
              </a:defRPr>
            </a:pPr>
            <a:r>
              <a:t>• Implemented (Live): Responsive UI, scale arithmetic, digital receipt hashing, wallet ledger, CSV audit export, Recharts telemetry.</a:t>
            </a:r>
          </a:p>
          <a:p>
            <a:pPr>
              <a:spcAft>
                <a:spcPts val="300"/>
              </a:spcAft>
              <a:defRPr sz="880">
                <a:solidFill>
                  <a:srgbClr val="334155"/>
                </a:solidFill>
              </a:defRPr>
            </a:pPr>
            <a:r>
              <a:t>• Simulated (Prototype): Edge ML inference UI (sample score 94%), BLE scale auto-pairing (digital slider/manual entry), bank transfer simulation.</a:t>
            </a:r>
          </a:p>
          <a:p>
            <a:pPr>
              <a:spcAft>
                <a:spcPts val="300"/>
              </a:spcAft>
              <a:defRPr sz="880">
                <a:solidFill>
                  <a:srgbClr val="334155"/>
                </a:solidFill>
              </a:defRPr>
            </a:pPr>
            <a:r>
              <a:t>• Proposed (Roadmap): Edge model trained on 20,000+ Indian dry scrap images; multilingual voice IVR for non-literate collectors.</a:t>
            </a:r>
          </a:p>
        </p:txBody>
      </p:sp>
      <p:sp>
        <p:nvSpPr>
          <p:cNvPr id="10" name="Rectangle 9"/>
          <p:cNvSpPr/>
          <p:nvPr/>
        </p:nvSpPr>
        <p:spPr>
          <a:xfrm>
            <a:off x="731520" y="6126480"/>
            <a:ext cx="10728655" cy="3657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a:solidFill>
                  <a:srgbClr val="64748B"/>
                </a:solidFill>
              </a:defRPr>
            </a:pPr>
            <a:r>
              <a:t>ARCHITECTURAL PHILOSOPHY: We avoid high-cost cloud subscriptions, complex blockchain overhead, and unvalidated claims. Technology serves as an accessible tool for human workers, not a fragile barrier to entry.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1005840"/>
          </a:xfrm>
          <a:prstGeom prst="rect">
            <a:avLst/>
          </a:prstGeom>
          <a:noFill/>
        </p:spPr>
        <p:txBody>
          <a:bodyPr wrap="square" lIns="0" tIns="0" rIns="0" bIns="0">
            <a:spAutoFit/>
          </a:bodyPr>
          <a:lstStyle/>
          <a:p>
            <a:pPr>
              <a:spcAft>
                <a:spcPts val="200"/>
              </a:spcAft>
              <a:defRPr sz="950" b="1">
                <a:solidFill>
                  <a:srgbClr val="059669"/>
                </a:solidFill>
              </a:defRPr>
            </a:pPr>
            <a:r>
              <a:t>GOVERNANCE, TRUST &amp; ANTI-FRAUD</a:t>
            </a:r>
          </a:p>
          <a:p>
            <a:pPr>
              <a:spcAft>
                <a:spcPts val="200"/>
              </a:spcAft>
              <a:defRPr sz="2200" b="1">
                <a:solidFill>
                  <a:srgbClr val="0F172A"/>
                </a:solidFill>
              </a:defRPr>
            </a:pPr>
            <a:r>
              <a:t>Closed-Loop Chain of Custody: From Curb to Recycler Weighbridge</a:t>
            </a:r>
          </a:p>
          <a:p>
            <a:pPr>
              <a:defRPr sz="1100">
                <a:solidFill>
                  <a:srgbClr val="64748B"/>
                </a:solidFill>
              </a:defRPr>
            </a:pPr>
            <a:r>
              <a:t>Transparent reconciliation and practical fraud controls without speculative blockchain claims.</a:t>
            </a:r>
          </a:p>
        </p:txBody>
      </p:sp>
      <p:sp>
        <p:nvSpPr>
          <p:cNvPr id="5" name="Rounded Rectangle 4"/>
          <p:cNvSpPr/>
          <p:nvPr/>
        </p:nvSpPr>
        <p:spPr>
          <a:xfrm>
            <a:off x="731520" y="1691640"/>
            <a:ext cx="621792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64E3B"/>
                </a:solidFill>
              </a:defRPr>
            </a:pPr>
            <a:r>
              <a:t>5-Stage Traceability &amp; Reconciliation Process</a:t>
            </a:r>
          </a:p>
          <a:p>
            <a:pPr>
              <a:spcAft>
                <a:spcPts val="300"/>
              </a:spcAft>
              <a:defRPr sz="919">
                <a:solidFill>
                  <a:srgbClr val="334155"/>
                </a:solidFill>
              </a:defRPr>
            </a:pPr>
            <a:r>
              <a:t>1. Doorstep Pickup &amp; Digital Pass (At Source):</a:t>
            </a:r>
          </a:p>
          <a:p>
            <a:pPr>
              <a:spcAft>
                <a:spcPts val="300"/>
              </a:spcAft>
              <a:defRPr sz="919">
                <a:solidFill>
                  <a:srgbClr val="334155"/>
                </a:solidFill>
              </a:defRPr>
            </a:pPr>
            <a:r>
              <a:t>   Citizen QR code is scanned; calibrated digital scale logs gross weight; GPS and timestamp recorded.</a:t>
            </a:r>
          </a:p>
          <a:p>
            <a:pPr>
              <a:spcAft>
                <a:spcPts val="300"/>
              </a:spcAft>
              <a:defRPr sz="919">
                <a:solidFill>
                  <a:srgbClr val="334155"/>
                </a:solidFill>
              </a:defRPr>
            </a:pPr>
          </a:p>
          <a:p>
            <a:pPr>
              <a:spcAft>
                <a:spcPts val="300"/>
              </a:spcAft>
              <a:defRPr sz="919">
                <a:solidFill>
                  <a:srgbClr val="334155"/>
                </a:solidFill>
              </a:defRPr>
            </a:pPr>
            <a:r>
              <a:t>2. Secondary Sorting &amp; Grading (SHG Community Hub):</a:t>
            </a:r>
          </a:p>
          <a:p>
            <a:pPr>
              <a:spcAft>
                <a:spcPts val="300"/>
              </a:spcAft>
              <a:defRPr sz="919">
                <a:solidFill>
                  <a:srgbClr val="334155"/>
                </a:solidFill>
              </a:defRPr>
            </a:pPr>
            <a:r>
              <a:t>   Materials segregated into high-value grades (PET, HDPE, Cardboard, Cans); moisture and contamination deducted.</a:t>
            </a:r>
          </a:p>
          <a:p>
            <a:pPr>
              <a:spcAft>
                <a:spcPts val="300"/>
              </a:spcAft>
              <a:defRPr sz="919">
                <a:solidFill>
                  <a:srgbClr val="334155"/>
                </a:solidFill>
              </a:defRPr>
            </a:pPr>
          </a:p>
          <a:p>
            <a:pPr>
              <a:spcAft>
                <a:spcPts val="300"/>
              </a:spcAft>
              <a:defRPr sz="919">
                <a:solidFill>
                  <a:srgbClr val="334155"/>
                </a:solidFill>
              </a:defRPr>
            </a:pPr>
            <a:r>
              <a:t>3. Batch Consolidation &amp; Hashing:</a:t>
            </a:r>
          </a:p>
          <a:p>
            <a:pPr>
              <a:spcAft>
                <a:spcPts val="300"/>
              </a:spcAft>
              <a:defRPr sz="919">
                <a:solidFill>
                  <a:srgbClr val="334155"/>
                </a:solidFill>
              </a:defRPr>
            </a:pPr>
            <a:r>
              <a:t>   Individual collection receipts aggregated into a dispatch lot; assigned a unique SHA-256 cryptographic audit hash.</a:t>
            </a:r>
          </a:p>
          <a:p>
            <a:pPr>
              <a:spcAft>
                <a:spcPts val="300"/>
              </a:spcAft>
              <a:defRPr sz="919">
                <a:solidFill>
                  <a:srgbClr val="334155"/>
                </a:solidFill>
              </a:defRPr>
            </a:pPr>
          </a:p>
          <a:p>
            <a:pPr>
              <a:spcAft>
                <a:spcPts val="300"/>
              </a:spcAft>
              <a:defRPr sz="919">
                <a:solidFill>
                  <a:srgbClr val="334155"/>
                </a:solidFill>
              </a:defRPr>
            </a:pPr>
            <a:r>
              <a:t>4. Industrial Recycler Gate Weighbridge:</a:t>
            </a:r>
          </a:p>
          <a:p>
            <a:pPr>
              <a:spcAft>
                <a:spcPts val="300"/>
              </a:spcAft>
              <a:defRPr sz="919">
                <a:solidFill>
                  <a:srgbClr val="334155"/>
                </a:solidFill>
              </a:defRPr>
            </a:pPr>
            <a:r>
              <a:t>   Certified recycler weighs inbound truck/loader on certified weighbridge; logs independent tare and gross weight.</a:t>
            </a:r>
          </a:p>
          <a:p>
            <a:pPr>
              <a:spcAft>
                <a:spcPts val="300"/>
              </a:spcAft>
              <a:defRPr sz="919">
                <a:solidFill>
                  <a:srgbClr val="334155"/>
                </a:solidFill>
              </a:defRPr>
            </a:pPr>
          </a:p>
          <a:p>
            <a:pPr>
              <a:spcAft>
                <a:spcPts val="300"/>
              </a:spcAft>
              <a:defRPr sz="919">
                <a:solidFill>
                  <a:srgbClr val="334155"/>
                </a:solidFill>
              </a:defRPr>
            </a:pPr>
            <a:r>
              <a:t>5. Automated Batch Reconciliation &amp; Escrow Release:</a:t>
            </a:r>
          </a:p>
          <a:p>
            <a:pPr>
              <a:spcAft>
                <a:spcPts val="300"/>
              </a:spcAft>
              <a:defRPr sz="919">
                <a:solidFill>
                  <a:srgbClr val="334155"/>
                </a:solidFill>
              </a:defRPr>
            </a:pPr>
            <a:r>
              <a:t>   Platform compares aggregated curb weight vs gate weighbridge weight (±2% tolerance threshold). Escrow payment released only upon weight verification.</a:t>
            </a:r>
          </a:p>
        </p:txBody>
      </p:sp>
      <p:sp>
        <p:nvSpPr>
          <p:cNvPr id="6" name="Rounded Rectangle 5"/>
          <p:cNvSpPr/>
          <p:nvPr/>
        </p:nvSpPr>
        <p:spPr>
          <a:xfrm>
            <a:off x="7132320" y="1691640"/>
            <a:ext cx="432785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ceability_opt.jpg"/>
          <p:cNvPicPr>
            <a:picLocks noChangeAspect="1"/>
          </p:cNvPicPr>
          <p:nvPr/>
        </p:nvPicPr>
        <p:blipFill>
          <a:blip r:embed="rId2"/>
          <a:stretch>
            <a:fillRect/>
          </a:stretch>
        </p:blipFill>
        <p:spPr>
          <a:xfrm>
            <a:off x="7205472" y="1764792"/>
            <a:ext cx="4181551" cy="1993392"/>
          </a:xfrm>
          <a:prstGeom prst="rect">
            <a:avLst/>
          </a:prstGeom>
        </p:spPr>
      </p:pic>
      <p:sp>
        <p:nvSpPr>
          <p:cNvPr id="8" name="TextBox 7"/>
          <p:cNvSpPr txBox="1"/>
          <p:nvPr/>
        </p:nvSpPr>
        <p:spPr>
          <a:xfrm>
            <a:off x="7223760" y="3721608"/>
            <a:ext cx="4144975" cy="292608"/>
          </a:xfrm>
          <a:prstGeom prst="rect">
            <a:avLst/>
          </a:prstGeom>
          <a:noFill/>
        </p:spPr>
        <p:txBody>
          <a:bodyPr wrap="square" lIns="0" tIns="0" rIns="0" bIns="0">
            <a:spAutoFit/>
          </a:bodyPr>
          <a:lstStyle/>
          <a:p>
            <a:pPr>
              <a:defRPr sz="900">
                <a:solidFill>
                  <a:srgbClr val="64748B"/>
                </a:solidFill>
              </a:defRPr>
            </a:pPr>
            <a:r>
              <a:t>[TRACEABILITY PROTOTYPE] Batch Inspector (Hash 0x8f3c7e..., 7-stage custody timeline, and recycler gate bill).</a:t>
            </a:r>
          </a:p>
        </p:txBody>
      </p:sp>
      <p:sp>
        <p:nvSpPr>
          <p:cNvPr id="9" name="Rounded Rectangle 8"/>
          <p:cNvSpPr/>
          <p:nvPr/>
        </p:nvSpPr>
        <p:spPr>
          <a:xfrm>
            <a:off x="7132320" y="4206240"/>
            <a:ext cx="4327855" cy="178308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00" b="1">
                <a:solidFill>
                  <a:srgbClr val="D97706"/>
                </a:solidFill>
              </a:defRPr>
            </a:pPr>
            <a:r>
              <a:t>Practical Fraud Controls &amp; Governance</a:t>
            </a:r>
          </a:p>
          <a:p>
            <a:pPr>
              <a:spcAft>
                <a:spcPts val="300"/>
              </a:spcAft>
              <a:defRPr sz="880">
                <a:solidFill>
                  <a:srgbClr val="334155"/>
                </a:solidFill>
              </a:defRPr>
            </a:pPr>
            <a:r>
              <a:t>• Density Volumetric Checks: Algorithms flag anomalous weight-to-volume logs (e.g. 30 kg plastic in a 5L sack).</a:t>
            </a:r>
          </a:p>
          <a:p>
            <a:pPr>
              <a:spcAft>
                <a:spcPts val="300"/>
              </a:spcAft>
              <a:defRPr sz="880">
                <a:solidFill>
                  <a:srgbClr val="334155"/>
                </a:solidFill>
              </a:defRPr>
            </a:pPr>
            <a:r>
              <a:t>• Dual-Party Confirmation: Citizens verify pickup completion; recyclers verify gate batch tonnage.</a:t>
            </a:r>
          </a:p>
          <a:p>
            <a:pPr>
              <a:spcAft>
                <a:spcPts val="300"/>
              </a:spcAft>
              <a:defRPr sz="880">
                <a:solidFill>
                  <a:srgbClr val="334155"/>
                </a:solidFill>
              </a:defRPr>
            </a:pPr>
            <a:r>
              <a:t>• Human-in-the-Loop Override: Collectors can manually correct material classifications before final dispatch.</a:t>
            </a:r>
          </a:p>
          <a:p>
            <a:pPr>
              <a:spcAft>
                <a:spcPts val="300"/>
              </a:spcAft>
              <a:defRPr sz="880">
                <a:solidFill>
                  <a:srgbClr val="334155"/>
                </a:solidFill>
              </a:defRPr>
            </a:pPr>
            <a:r>
              <a:t>• Scientific Boundary Disclosure: Audit hashes are tamper-evident database logs, NOT a public blockchain. Physical recycling proof relies on industrial weighbridge reconciliation.</a:t>
            </a:r>
          </a:p>
        </p:txBody>
      </p:sp>
      <p:sp>
        <p:nvSpPr>
          <p:cNvPr id="10" name="Rectangle 9"/>
          <p:cNvSpPr/>
          <p:nvPr/>
        </p:nvSpPr>
        <p:spPr>
          <a:xfrm>
            <a:off x="731520" y="6126480"/>
            <a:ext cx="10728655" cy="365760"/>
          </a:xfrm>
          <a:prstGeom prst="rect">
            <a:avLst/>
          </a:prstGeom>
          <a:solidFill>
            <a:srgbClr val="F0FDF4"/>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a:solidFill>
                  <a:srgbClr val="064E3B"/>
                </a:solidFill>
              </a:defRPr>
            </a:pPr>
            <a:r>
              <a:t>STRICT TECHNICAL DISCLOSURE: We do not call an ordinary SHA-256 database hash 'blockchain' or claim digital records magically eliminate physical fraud without gate weighbridge calibration.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1005840"/>
          </a:xfrm>
          <a:prstGeom prst="rect">
            <a:avLst/>
          </a:prstGeom>
          <a:noFill/>
        </p:spPr>
        <p:txBody>
          <a:bodyPr wrap="square" lIns="0" tIns="0" rIns="0" bIns="0">
            <a:spAutoFit/>
          </a:bodyPr>
          <a:lstStyle/>
          <a:p>
            <a:pPr>
              <a:spcAft>
                <a:spcPts val="200"/>
              </a:spcAft>
              <a:defRPr sz="950" b="1">
                <a:solidFill>
                  <a:srgbClr val="059669"/>
                </a:solidFill>
              </a:defRPr>
            </a:pPr>
            <a:r>
              <a:t>ENVIRONMENTAL &amp; SOCIO-ECONOMIC IMPACT</a:t>
            </a:r>
          </a:p>
          <a:p>
            <a:pPr>
              <a:spcAft>
                <a:spcPts val="200"/>
              </a:spcAft>
              <a:defRPr sz="2200" b="1">
                <a:solidFill>
                  <a:srgbClr val="0F172A"/>
                </a:solidFill>
              </a:defRPr>
            </a:pPr>
            <a:r>
              <a:t>Transparent Impact Accounting: Prototype Data vs. Modeled Scenarios</a:t>
            </a:r>
          </a:p>
          <a:p>
            <a:pPr>
              <a:defRPr sz="1100">
                <a:solidFill>
                  <a:srgbClr val="64748B"/>
                </a:solidFill>
              </a:defRPr>
            </a:pPr>
            <a:r>
              <a:t>Separating empirical software telemetry from standardized annual projections based on CPCB and US EPA factors.</a:t>
            </a:r>
          </a:p>
        </p:txBody>
      </p:sp>
      <p:sp>
        <p:nvSpPr>
          <p:cNvPr id="5" name="Rounded Rectangle 4"/>
          <p:cNvSpPr/>
          <p:nvPr/>
        </p:nvSpPr>
        <p:spPr>
          <a:xfrm>
            <a:off x="731520" y="1691640"/>
            <a:ext cx="3383280" cy="429768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64E3B"/>
                </a:solidFill>
              </a:defRPr>
            </a:pPr>
            <a:r>
              <a:t>A. Measured Prototype Outputs</a:t>
            </a:r>
          </a:p>
          <a:p>
            <a:pPr>
              <a:spcAft>
                <a:spcPts val="300"/>
              </a:spcAft>
              <a:defRPr sz="950">
                <a:solidFill>
                  <a:srgbClr val="334155"/>
                </a:solidFill>
              </a:defRPr>
            </a:pPr>
            <a:r>
              <a:t>Empirical Telemetry (Software State):</a:t>
            </a:r>
          </a:p>
          <a:p>
            <a:pPr>
              <a:spcAft>
                <a:spcPts val="300"/>
              </a:spcAft>
              <a:defRPr sz="950">
                <a:solidFill>
                  <a:srgbClr val="334155"/>
                </a:solidFill>
              </a:defRPr>
            </a:pPr>
            <a:r>
              <a:t>• Total Dry Waste Logged: 1,480.0 kg across demo transactions.</a:t>
            </a:r>
          </a:p>
          <a:p>
            <a:pPr>
              <a:spcAft>
                <a:spcPts val="300"/>
              </a:spcAft>
              <a:defRPr sz="950">
                <a:solidFill>
                  <a:srgbClr val="334155"/>
                </a:solidFill>
              </a:defRPr>
            </a:pPr>
            <a:r>
              <a:t>• Verified Collection Jobs: 146 completed curb trips.</a:t>
            </a:r>
          </a:p>
          <a:p>
            <a:pPr>
              <a:spcAft>
                <a:spcPts val="300"/>
              </a:spcAft>
              <a:defRPr sz="950">
                <a:solidFill>
                  <a:srgbClr val="334155"/>
                </a:solidFill>
              </a:defRPr>
            </a:pPr>
            <a:r>
              <a:t>• Avoided Greenhouse Gas: 2.18 Metric Tonnes CO2e avoided across demo batches.</a:t>
            </a:r>
          </a:p>
          <a:p>
            <a:pPr>
              <a:spcAft>
                <a:spcPts val="300"/>
              </a:spcAft>
              <a:defRPr sz="950">
                <a:solidFill>
                  <a:srgbClr val="334155"/>
                </a:solidFill>
              </a:defRPr>
            </a:pPr>
            <a:r>
              <a:t>• Direct Earnings Disbursed: ₹23,680 credited to SHG wallet ledger.</a:t>
            </a:r>
          </a:p>
          <a:p>
            <a:pPr>
              <a:spcAft>
                <a:spcPts val="300"/>
              </a:spcAft>
              <a:defRPr sz="950">
                <a:solidFill>
                  <a:srgbClr val="334155"/>
                </a:solidFill>
              </a:defRPr>
            </a:pPr>
            <a:r>
              <a:t>• Material Purity Logged: 92.4% average segregation purity.</a:t>
            </a:r>
          </a:p>
          <a:p>
            <a:pPr>
              <a:spcAft>
                <a:spcPts val="300"/>
              </a:spcAft>
              <a:defRPr sz="950">
                <a:solidFill>
                  <a:srgbClr val="334155"/>
                </a:solidFill>
              </a:defRPr>
            </a:pPr>
          </a:p>
          <a:p>
            <a:pPr>
              <a:spcAft>
                <a:spcPts val="300"/>
              </a:spcAft>
              <a:defRPr sz="950">
                <a:solidFill>
                  <a:srgbClr val="334155"/>
                </a:solidFill>
              </a:defRPr>
            </a:pPr>
            <a:r>
              <a:t>Status: Verified software calculations logged in React prototype database (Localhost:5174).</a:t>
            </a:r>
          </a:p>
        </p:txBody>
      </p:sp>
      <p:sp>
        <p:nvSpPr>
          <p:cNvPr id="6" name="Rounded Rectangle 5"/>
          <p:cNvSpPr/>
          <p:nvPr/>
        </p:nvSpPr>
        <p:spPr>
          <a:xfrm>
            <a:off x="4297680" y="1691640"/>
            <a:ext cx="338328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F172A"/>
                </a:solidFill>
              </a:defRPr>
            </a:pPr>
            <a:r>
              <a:t>B. 1,000-Household Annual Model</a:t>
            </a:r>
          </a:p>
          <a:p>
            <a:pPr>
              <a:spcAft>
                <a:spcPts val="300"/>
              </a:spcAft>
              <a:defRPr sz="950">
                <a:solidFill>
                  <a:srgbClr val="334155"/>
                </a:solidFill>
              </a:defRPr>
            </a:pPr>
            <a:r>
              <a:t>Modeled Scenario (Baseline Assumptions):</a:t>
            </a:r>
          </a:p>
          <a:p>
            <a:pPr>
              <a:spcAft>
                <a:spcPts val="300"/>
              </a:spcAft>
              <a:defRPr sz="950">
                <a:solidFill>
                  <a:srgbClr val="334155"/>
                </a:solidFill>
              </a:defRPr>
            </a:pPr>
            <a:r>
              <a:t>• Waste Diverted: 120 Metric Tonnes/year dry scrap diverted from municipal dumpsites.</a:t>
            </a:r>
          </a:p>
          <a:p>
            <a:pPr>
              <a:spcAft>
                <a:spcPts val="300"/>
              </a:spcAft>
              <a:defRPr sz="950">
                <a:solidFill>
                  <a:srgbClr val="334155"/>
                </a:solidFill>
              </a:defRPr>
            </a:pPr>
            <a:r>
              <a:t>• Avoided Carbon: 180 Metric Tonnes CO2e avoided annually vs virgin production.</a:t>
            </a:r>
          </a:p>
          <a:p>
            <a:pPr>
              <a:spcAft>
                <a:spcPts val="300"/>
              </a:spcAft>
              <a:defRPr sz="950">
                <a:solidFill>
                  <a:srgbClr val="334155"/>
                </a:solidFill>
              </a:defRPr>
            </a:pPr>
            <a:r>
              <a:t>• Community Income: ₹18.5 Lakhs generated annually for participating women SHG collectors.</a:t>
            </a:r>
          </a:p>
          <a:p>
            <a:pPr>
              <a:spcAft>
                <a:spcPts val="300"/>
              </a:spcAft>
              <a:defRPr sz="950">
                <a:solidFill>
                  <a:srgbClr val="334155"/>
                </a:solidFill>
              </a:defRPr>
            </a:pPr>
            <a:r>
              <a:t>• Full-Time Livelihoods: Supports 24 dignified, formalized SHG collector jobs.</a:t>
            </a:r>
          </a:p>
          <a:p>
            <a:pPr>
              <a:spcAft>
                <a:spcPts val="300"/>
              </a:spcAft>
              <a:defRPr sz="950">
                <a:solidFill>
                  <a:srgbClr val="334155"/>
                </a:solidFill>
              </a:defRPr>
            </a:pPr>
            <a:r>
              <a:t>• Landfill Methane Reduction: ~72 MT organic/wet contamination prevented from anaerobic rot.</a:t>
            </a:r>
          </a:p>
          <a:p>
            <a:pPr>
              <a:spcAft>
                <a:spcPts val="300"/>
              </a:spcAft>
              <a:defRPr sz="950">
                <a:solidFill>
                  <a:srgbClr val="334155"/>
                </a:solidFill>
              </a:defRPr>
            </a:pPr>
          </a:p>
          <a:p>
            <a:pPr>
              <a:spcAft>
                <a:spcPts val="300"/>
              </a:spcAft>
              <a:defRPr sz="950">
                <a:solidFill>
                  <a:srgbClr val="334155"/>
                </a:solidFill>
              </a:defRPr>
            </a:pPr>
            <a:r>
              <a:t>Status: Modeled scenario based on standardized CPCB per capita municipal waste baselines.</a:t>
            </a:r>
          </a:p>
        </p:txBody>
      </p:sp>
      <p:sp>
        <p:nvSpPr>
          <p:cNvPr id="7" name="Rounded Rectangle 6"/>
          <p:cNvSpPr/>
          <p:nvPr/>
        </p:nvSpPr>
        <p:spPr>
          <a:xfrm>
            <a:off x="7863840" y="1691640"/>
            <a:ext cx="3596335"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alculator_opt.jpg"/>
          <p:cNvPicPr>
            <a:picLocks noChangeAspect="1"/>
          </p:cNvPicPr>
          <p:nvPr/>
        </p:nvPicPr>
        <p:blipFill>
          <a:blip r:embed="rId2"/>
          <a:stretch>
            <a:fillRect/>
          </a:stretch>
        </p:blipFill>
        <p:spPr>
          <a:xfrm>
            <a:off x="7936992" y="1764792"/>
            <a:ext cx="3450031" cy="1947672"/>
          </a:xfrm>
          <a:prstGeom prst="rect">
            <a:avLst/>
          </a:prstGeom>
        </p:spPr>
      </p:pic>
      <p:sp>
        <p:nvSpPr>
          <p:cNvPr id="9" name="TextBox 8"/>
          <p:cNvSpPr txBox="1"/>
          <p:nvPr/>
        </p:nvSpPr>
        <p:spPr>
          <a:xfrm>
            <a:off x="7955280" y="3675888"/>
            <a:ext cx="3413455" cy="292608"/>
          </a:xfrm>
          <a:prstGeom prst="rect">
            <a:avLst/>
          </a:prstGeom>
          <a:noFill/>
        </p:spPr>
        <p:txBody>
          <a:bodyPr wrap="square" lIns="0" tIns="0" rIns="0" bIns="0">
            <a:spAutoFit/>
          </a:bodyPr>
          <a:lstStyle/>
          <a:p>
            <a:pPr>
              <a:defRPr sz="900">
                <a:solidFill>
                  <a:srgbClr val="64748B"/>
                </a:solidFill>
              </a:defRPr>
            </a:pPr>
            <a:r>
              <a:t>[CALCULATOR PROTOTYPE] Interactive Impact Calculator with standard CPCB/EPA factor toggles.</a:t>
            </a:r>
          </a:p>
        </p:txBody>
      </p:sp>
      <p:sp>
        <p:nvSpPr>
          <p:cNvPr id="10" name="Rounded Rectangle 9"/>
          <p:cNvSpPr/>
          <p:nvPr/>
        </p:nvSpPr>
        <p:spPr>
          <a:xfrm>
            <a:off x="7863840" y="4160520"/>
            <a:ext cx="3596335" cy="1828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050" b="1">
                <a:solidFill>
                  <a:srgbClr val="64748B"/>
                </a:solidFill>
              </a:defRPr>
            </a:pPr>
            <a:r>
              <a:t>Lifecycle LCA Assumptions</a:t>
            </a:r>
          </a:p>
          <a:p>
            <a:pPr>
              <a:spcAft>
                <a:spcPts val="300"/>
              </a:spcAft>
              <a:defRPr sz="850">
                <a:solidFill>
                  <a:srgbClr val="334155"/>
                </a:solidFill>
              </a:defRPr>
            </a:pPr>
            <a:r>
              <a:t>• Waste Generation: 0.40 kg/capita/day MSW; 25% dry recyclables (CPCB 2021). 10 kg/HH/month capture yield.</a:t>
            </a:r>
          </a:p>
          <a:p>
            <a:pPr>
              <a:spcAft>
                <a:spcPts val="300"/>
              </a:spcAft>
              <a:defRPr sz="850">
                <a:solidFill>
                  <a:srgbClr val="334155"/>
                </a:solidFill>
              </a:defRPr>
            </a:pPr>
            <a:r>
              <a:t>• Avoided Carbon Factors (US EPA WARM v15): PET (1.60 kg CO2e/kg), Paper (1.20 kg CO2e/kg), Metals (3.80 kg CO2e/kg).</a:t>
            </a:r>
          </a:p>
          <a:p>
            <a:pPr>
              <a:spcAft>
                <a:spcPts val="300"/>
              </a:spcAft>
              <a:defRPr sz="850">
                <a:solidFill>
                  <a:srgbClr val="334155"/>
                </a:solidFill>
              </a:defRPr>
            </a:pPr>
            <a:r>
              <a:t>• Boundary Limits: Avoided burden LCA assumes dry scrap displaces virgin extraction; accounts for collection logistics energy (~0.05 kg CO2e/kg).</a:t>
            </a:r>
          </a:p>
        </p:txBody>
      </p:sp>
      <p:sp>
        <p:nvSpPr>
          <p:cNvPr id="11" name="Rectangle 10"/>
          <p:cNvSpPr/>
          <p:nvPr/>
        </p:nvSpPr>
        <p:spPr>
          <a:xfrm>
            <a:off x="731520" y="6126480"/>
            <a:ext cx="10728655" cy="3657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a:solidFill>
                  <a:srgbClr val="64748B"/>
                </a:solidFill>
              </a:defRPr>
            </a:pPr>
            <a:r>
              <a:t>INTEGRITY DISCLOSURE: All 1,000-household figures represent illustrative modeled scenarios, not verified field outcomes. Future pilots will install certified weighbridges to measure real-world tonnage and emissions.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1005840"/>
          </a:xfrm>
          <a:prstGeom prst="rect">
            <a:avLst/>
          </a:prstGeom>
          <a:noFill/>
        </p:spPr>
        <p:txBody>
          <a:bodyPr wrap="square" lIns="0" tIns="0" rIns="0" bIns="0">
            <a:spAutoFit/>
          </a:bodyPr>
          <a:lstStyle/>
          <a:p>
            <a:pPr>
              <a:spcAft>
                <a:spcPts val="200"/>
              </a:spcAft>
              <a:defRPr sz="950" b="1">
                <a:solidFill>
                  <a:srgbClr val="059669"/>
                </a:solidFill>
              </a:defRPr>
            </a:pPr>
            <a:r>
              <a:t>COMMERCIAL MODEL &amp; STRATEGIC ALIGNMENT</a:t>
            </a:r>
          </a:p>
          <a:p>
            <a:pPr>
              <a:spcAft>
                <a:spcPts val="200"/>
              </a:spcAft>
              <a:defRPr sz="2200" b="1">
                <a:solidFill>
                  <a:srgbClr val="0F172A"/>
                </a:solidFill>
              </a:defRPr>
            </a:pPr>
            <a:r>
              <a:t>Multi-Sided Revenue Model &amp; Strategic Fit with Satin Finserv</a:t>
            </a:r>
          </a:p>
          <a:p>
            <a:pPr>
              <a:defRPr sz="1100">
                <a:solidFill>
                  <a:srgbClr val="64748B"/>
                </a:solidFill>
              </a:defRPr>
            </a:pPr>
            <a:r>
              <a:t>Zero platform fees for informal collectors, monetizing enterprise traceability and enabling green microfinance.</a:t>
            </a:r>
          </a:p>
        </p:txBody>
      </p:sp>
      <p:sp>
        <p:nvSpPr>
          <p:cNvPr id="5" name="Rounded Rectangle 4"/>
          <p:cNvSpPr/>
          <p:nvPr/>
        </p:nvSpPr>
        <p:spPr>
          <a:xfrm>
            <a:off x="731520" y="1691640"/>
            <a:ext cx="521208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64E3B"/>
                </a:solidFill>
              </a:defRPr>
            </a:pPr>
            <a:r>
              <a:t>Sustainable Multi-Sided Revenue Model</a:t>
            </a:r>
          </a:p>
          <a:p>
            <a:pPr>
              <a:spcAft>
                <a:spcPts val="300"/>
              </a:spcAft>
              <a:defRPr sz="919">
                <a:solidFill>
                  <a:srgbClr val="334155"/>
                </a:solidFill>
              </a:defRPr>
            </a:pPr>
            <a:r>
              <a:t>Zero Platform Costs for Women SHG Collectors:</a:t>
            </a:r>
          </a:p>
          <a:p>
            <a:pPr>
              <a:spcAft>
                <a:spcPts val="300"/>
              </a:spcAft>
              <a:defRPr sz="919">
                <a:solidFill>
                  <a:srgbClr val="334155"/>
                </a:solidFill>
              </a:defRPr>
            </a:pPr>
            <a:r>
              <a:t>1. Recycler Sourcing Premium (3%–5% transaction fee):</a:t>
            </a:r>
          </a:p>
          <a:p>
            <a:pPr>
              <a:spcAft>
                <a:spcPts val="300"/>
              </a:spcAft>
              <a:defRPr sz="919">
                <a:solidFill>
                  <a:srgbClr val="334155"/>
                </a:solidFill>
              </a:defRPr>
            </a:pPr>
            <a:r>
              <a:t>   Certified industrial recyclers pay a small facilitation fee for clean, pre-sorted, low-contamination secondary feedstock, saving 20% in sorting and washing costs.</a:t>
            </a:r>
          </a:p>
          <a:p>
            <a:pPr>
              <a:spcAft>
                <a:spcPts val="300"/>
              </a:spcAft>
              <a:defRPr sz="919">
                <a:solidFill>
                  <a:srgbClr val="334155"/>
                </a:solidFill>
              </a:defRPr>
            </a:pPr>
          </a:p>
          <a:p>
            <a:pPr>
              <a:spcAft>
                <a:spcPts val="300"/>
              </a:spcAft>
              <a:defRPr sz="919">
                <a:solidFill>
                  <a:srgbClr val="334155"/>
                </a:solidFill>
              </a:defRPr>
            </a:pPr>
            <a:r>
              <a:t>2. Corporate EPR Traceability SaaS (B2B):</a:t>
            </a:r>
          </a:p>
          <a:p>
            <a:pPr>
              <a:spcAft>
                <a:spcPts val="300"/>
              </a:spcAft>
              <a:defRPr sz="919">
                <a:solidFill>
                  <a:srgbClr val="334155"/>
                </a:solidFill>
              </a:defRPr>
            </a:pPr>
            <a:r>
              <a:t>   FMCG consumer brands purchase audited digital plastic recycling credits to fulfill statutory MoEFCC Extended Producer Responsibility (EPR) mandates.</a:t>
            </a:r>
          </a:p>
          <a:p>
            <a:pPr>
              <a:spcAft>
                <a:spcPts val="300"/>
              </a:spcAft>
              <a:defRPr sz="919">
                <a:solidFill>
                  <a:srgbClr val="334155"/>
                </a:solidFill>
              </a:defRPr>
            </a:pPr>
          </a:p>
          <a:p>
            <a:pPr>
              <a:spcAft>
                <a:spcPts val="300"/>
              </a:spcAft>
              <a:defRPr sz="919">
                <a:solidFill>
                  <a:srgbClr val="334155"/>
                </a:solidFill>
              </a:defRPr>
            </a:pPr>
            <a:r>
              <a:t>3. Municipal Ward Circularity Dashboards:</a:t>
            </a:r>
          </a:p>
          <a:p>
            <a:pPr>
              <a:spcAft>
                <a:spcPts val="300"/>
              </a:spcAft>
              <a:defRPr sz="919">
                <a:solidFill>
                  <a:srgbClr val="334155"/>
                </a:solidFill>
              </a:defRPr>
            </a:pPr>
            <a:r>
              <a:t>   Urban Local Bodies (ULBs) subscribe to ward-level waste segregation and recovery telemetry for Swachh Survekshan ranking analytics.</a:t>
            </a:r>
          </a:p>
          <a:p>
            <a:pPr>
              <a:spcAft>
                <a:spcPts val="300"/>
              </a:spcAft>
              <a:defRPr sz="919">
                <a:solidFill>
                  <a:srgbClr val="334155"/>
                </a:solidFill>
              </a:defRPr>
            </a:pPr>
          </a:p>
          <a:p>
            <a:pPr>
              <a:spcAft>
                <a:spcPts val="300"/>
              </a:spcAft>
              <a:defRPr sz="919">
                <a:solidFill>
                  <a:srgbClr val="334155"/>
                </a:solidFill>
              </a:defRPr>
            </a:pPr>
            <a:r>
              <a:t>Unit Economics (1,000 HH Cluster):</a:t>
            </a:r>
          </a:p>
          <a:p>
            <a:pPr>
              <a:spcAft>
                <a:spcPts val="300"/>
              </a:spcAft>
              <a:defRPr sz="919">
                <a:solidFill>
                  <a:srgbClr val="334155"/>
                </a:solidFill>
              </a:defRPr>
            </a:pPr>
            <a:r>
              <a:t>• Annual Gross Material Value: ₹18.5 Lakhs (100% paid to SHGs).</a:t>
            </a:r>
          </a:p>
          <a:p>
            <a:pPr>
              <a:spcAft>
                <a:spcPts val="300"/>
              </a:spcAft>
              <a:defRPr sz="919">
                <a:solidFill>
                  <a:srgbClr val="334155"/>
                </a:solidFill>
              </a:defRPr>
            </a:pPr>
            <a:r>
              <a:t>• Recycler Fee (4%): ₹74,000/yr | EPR SaaS: ₹60,000/yr.</a:t>
            </a:r>
          </a:p>
          <a:p>
            <a:pPr>
              <a:spcAft>
                <a:spcPts val="300"/>
              </a:spcAft>
              <a:defRPr sz="919">
                <a:solidFill>
                  <a:srgbClr val="334155"/>
                </a:solidFill>
              </a:defRPr>
            </a:pPr>
            <a:r>
              <a:t>• Software Platform Revenue: ~₹1.34 Lakhs/cluster/year.</a:t>
            </a:r>
          </a:p>
        </p:txBody>
      </p:sp>
      <p:sp>
        <p:nvSpPr>
          <p:cNvPr id="6" name="Rounded Rectangle 5"/>
          <p:cNvSpPr/>
          <p:nvPr/>
        </p:nvSpPr>
        <p:spPr>
          <a:xfrm>
            <a:off x="6217920" y="1691640"/>
            <a:ext cx="5242255" cy="246888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50" b="1">
                <a:solidFill>
                  <a:srgbClr val="064E3B"/>
                </a:solidFill>
              </a:defRPr>
            </a:pPr>
            <a:r>
              <a:t>Strategic Alignment with Satin Finserv</a:t>
            </a:r>
          </a:p>
          <a:p>
            <a:pPr>
              <a:spcAft>
                <a:spcPts val="300"/>
              </a:spcAft>
              <a:defRPr sz="900">
                <a:solidFill>
                  <a:srgbClr val="334155"/>
                </a:solidFill>
              </a:defRPr>
            </a:pPr>
            <a:r>
              <a:t>Why Satin Finserv? Potential Strategic Relevance:</a:t>
            </a:r>
          </a:p>
          <a:p>
            <a:pPr>
              <a:spcAft>
                <a:spcPts val="300"/>
              </a:spcAft>
              <a:defRPr sz="900">
                <a:solidFill>
                  <a:srgbClr val="334155"/>
                </a:solidFill>
              </a:defRPr>
            </a:pPr>
            <a:r>
              <a:t>• SANKALP Theme Alignment: Financial inclusion, women micro-entrepreneurship, and green rural/semi-urban livelihoods.</a:t>
            </a:r>
          </a:p>
          <a:p>
            <a:pPr>
              <a:spcAft>
                <a:spcPts val="300"/>
              </a:spcAft>
              <a:defRPr sz="900">
                <a:solidFill>
                  <a:srgbClr val="334155"/>
                </a:solidFill>
              </a:defRPr>
            </a:pPr>
            <a:r>
              <a:t>• The Underwriting Problem: Informal women collectors lack CIBIL credit scores and income tax filings; acquiring rural borrowers costs ₹2,500–₹4,000.</a:t>
            </a:r>
          </a:p>
          <a:p>
            <a:pPr>
              <a:spcAft>
                <a:spcPts val="300"/>
              </a:spcAft>
              <a:defRPr sz="900">
                <a:solidFill>
                  <a:srgbClr val="334155"/>
                </a:solidFill>
              </a:defRPr>
            </a:pPr>
            <a:r>
              <a:t>• The EcoSakhi Data Rail: EcoSakhi provides 6+ months of verified daily weighments, ₹5,000+ monthly cash flows, and an 82/100 Climate Activity Profile.</a:t>
            </a:r>
          </a:p>
          <a:p>
            <a:pPr>
              <a:spcAft>
                <a:spcPts val="300"/>
              </a:spcAft>
              <a:defRPr sz="900">
                <a:solidFill>
                  <a:srgbClr val="334155"/>
                </a:solidFill>
              </a:defRPr>
            </a:pPr>
            <a:r>
              <a:t>• Potential Satin Green Asset Loan Products to Explore:</a:t>
            </a:r>
          </a:p>
          <a:p>
            <a:pPr>
              <a:spcAft>
                <a:spcPts val="300"/>
              </a:spcAft>
              <a:defRPr sz="900">
                <a:solidFill>
                  <a:srgbClr val="334155"/>
                </a:solidFill>
              </a:defRPr>
            </a:pPr>
            <a:r>
              <a:t>   - Green Cargo e-Loader Loan (₹65,000; replaces pushcarts, triples collection radius).</a:t>
            </a:r>
          </a:p>
          <a:p>
            <a:pPr>
              <a:spcAft>
                <a:spcPts val="300"/>
              </a:spcAft>
              <a:defRPr sz="900">
                <a:solidFill>
                  <a:srgbClr val="334155"/>
                </a:solidFill>
              </a:defRPr>
            </a:pPr>
            <a:r>
              <a:t>   - Community Baler &amp; Shredder Credit (₹42,000; enables group value-add baling).</a:t>
            </a:r>
          </a:p>
          <a:p>
            <a:pPr>
              <a:spcAft>
                <a:spcPts val="300"/>
              </a:spcAft>
              <a:defRPr sz="900">
                <a:solidFill>
                  <a:srgbClr val="334155"/>
                </a:solidFill>
              </a:defRPr>
            </a:pPr>
            <a:r>
              <a:t>• Strict Boundary: EcoSakhi is NOT a lender. We provide the operational data rail for Satin's licensed underwriting, subject to borrower consent.</a:t>
            </a:r>
          </a:p>
        </p:txBody>
      </p:sp>
      <p:sp>
        <p:nvSpPr>
          <p:cNvPr id="7" name="Rounded Rectangle 6"/>
          <p:cNvSpPr/>
          <p:nvPr/>
        </p:nvSpPr>
        <p:spPr>
          <a:xfrm>
            <a:off x="6217920" y="4297680"/>
            <a:ext cx="5242255"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nance_opt.jpg"/>
          <p:cNvPicPr>
            <a:picLocks noChangeAspect="1"/>
          </p:cNvPicPr>
          <p:nvPr/>
        </p:nvPicPr>
        <p:blipFill>
          <a:blip r:embed="rId2"/>
          <a:stretch>
            <a:fillRect/>
          </a:stretch>
        </p:blipFill>
        <p:spPr>
          <a:xfrm>
            <a:off x="6291072" y="4370832"/>
            <a:ext cx="5095951" cy="1307592"/>
          </a:xfrm>
          <a:prstGeom prst="rect">
            <a:avLst/>
          </a:prstGeom>
        </p:spPr>
      </p:pic>
      <p:sp>
        <p:nvSpPr>
          <p:cNvPr id="9" name="TextBox 8"/>
          <p:cNvSpPr txBox="1"/>
          <p:nvPr/>
        </p:nvSpPr>
        <p:spPr>
          <a:xfrm>
            <a:off x="6309360" y="5641848"/>
            <a:ext cx="5059375" cy="292608"/>
          </a:xfrm>
          <a:prstGeom prst="rect">
            <a:avLst/>
          </a:prstGeom>
          <a:noFill/>
        </p:spPr>
        <p:txBody>
          <a:bodyPr wrap="square" lIns="0" tIns="0" rIns="0" bIns="0">
            <a:spAutoFit/>
          </a:bodyPr>
          <a:lstStyle/>
          <a:p>
            <a:pPr>
              <a:defRPr sz="900">
                <a:solidFill>
                  <a:srgbClr val="64748B"/>
                </a:solidFill>
              </a:defRPr>
            </a:pPr>
            <a:r>
              <a:t>[FINTECH PROTOTYPE] Partner Finance Interface: Green Cargo e-Rickshaw Loan readiness card with DPDP consent gate.</a:t>
            </a:r>
          </a:p>
        </p:txBody>
      </p:sp>
      <p:sp>
        <p:nvSpPr>
          <p:cNvPr id="10" name="Rectangle 9"/>
          <p:cNvSpPr/>
          <p:nvPr/>
        </p:nvSpPr>
        <p:spPr>
          <a:xfrm>
            <a:off x="731520" y="6126480"/>
            <a:ext cx="10728655" cy="3657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a:solidFill>
                  <a:srgbClr val="64748B"/>
                </a:solidFill>
              </a:defRPr>
            </a:pPr>
            <a:r>
              <a:t>DISCLOSURE: Mention of Satin Finserv represents a strategic concept alignment for the SANKALP Student Track. It does not imply existing commercial partnership, funding commitment, or endorsement by Satin Finserv.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1005840"/>
          </a:xfrm>
          <a:prstGeom prst="rect">
            <a:avLst/>
          </a:prstGeom>
          <a:noFill/>
        </p:spPr>
        <p:txBody>
          <a:bodyPr wrap="square" lIns="0" tIns="0" rIns="0" bIns="0">
            <a:spAutoFit/>
          </a:bodyPr>
          <a:lstStyle/>
          <a:p>
            <a:pPr>
              <a:spcAft>
                <a:spcPts val="200"/>
              </a:spcAft>
              <a:defRPr sz="950" b="1">
                <a:solidFill>
                  <a:srgbClr val="059669"/>
                </a:solidFill>
              </a:defRPr>
            </a:pPr>
            <a:r>
              <a:t>EXECUTION FEASIBILITY &amp; SCALE</a:t>
            </a:r>
          </a:p>
          <a:p>
            <a:pPr>
              <a:spcAft>
                <a:spcPts val="200"/>
              </a:spcAft>
              <a:defRPr sz="2200" b="1">
                <a:solidFill>
                  <a:srgbClr val="0F172A"/>
                </a:solidFill>
              </a:defRPr>
            </a:pPr>
            <a:r>
              <a:t>Pragmatic 3-Stage Roadmap &amp; Risk Mitigation Framework</a:t>
            </a:r>
          </a:p>
          <a:p>
            <a:pPr>
              <a:defRPr sz="1100">
                <a:solidFill>
                  <a:srgbClr val="64748B"/>
                </a:solidFill>
              </a:defRPr>
            </a:pPr>
            <a:r>
              <a:t>An asset-light, partnership-driven rollout leveraging existing Self-Help Group federations and municipal frameworks.</a:t>
            </a:r>
          </a:p>
        </p:txBody>
      </p:sp>
      <p:sp>
        <p:nvSpPr>
          <p:cNvPr id="5" name="Rounded Rectangle 4"/>
          <p:cNvSpPr/>
          <p:nvPr/>
        </p:nvSpPr>
        <p:spPr>
          <a:xfrm>
            <a:off x="731520" y="1691640"/>
            <a:ext cx="3383280" cy="429768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50" b="1">
                <a:solidFill>
                  <a:srgbClr val="064E3B"/>
                </a:solidFill>
              </a:defRPr>
            </a:pPr>
            <a:r>
              <a:t>Stage 1: Field Pilot (M1–M6)</a:t>
            </a:r>
          </a:p>
          <a:p>
            <a:pPr>
              <a:spcAft>
                <a:spcPts val="300"/>
              </a:spcAft>
              <a:defRPr sz="880">
                <a:solidFill>
                  <a:srgbClr val="334155"/>
                </a:solidFill>
              </a:defRPr>
            </a:pPr>
            <a:r>
              <a:t>Scope &amp; Focus:</a:t>
            </a:r>
          </a:p>
          <a:p>
            <a:pPr>
              <a:spcAft>
                <a:spcPts val="300"/>
              </a:spcAft>
              <a:defRPr sz="880">
                <a:solidFill>
                  <a:srgbClr val="334155"/>
                </a:solidFill>
              </a:defRPr>
            </a:pPr>
            <a:r>
              <a:t>• 1 Municipal Ward (Coimbatore/Chennai, Tamil Nadu).</a:t>
            </a:r>
          </a:p>
          <a:p>
            <a:pPr>
              <a:spcAft>
                <a:spcPts val="300"/>
              </a:spcAft>
              <a:defRPr sz="880">
                <a:solidFill>
                  <a:srgbClr val="334155"/>
                </a:solidFill>
              </a:defRPr>
            </a:pPr>
            <a:r>
              <a:t>• 1,000 Participating households.</a:t>
            </a:r>
          </a:p>
          <a:p>
            <a:pPr>
              <a:spcAft>
                <a:spcPts val="300"/>
              </a:spcAft>
              <a:defRPr sz="880">
                <a:solidFill>
                  <a:srgbClr val="334155"/>
                </a:solidFill>
              </a:defRPr>
            </a:pPr>
            <a:r>
              <a:t>• 24 Women SHG collectors onboarded.</a:t>
            </a:r>
          </a:p>
          <a:p>
            <a:pPr>
              <a:spcAft>
                <a:spcPts val="300"/>
              </a:spcAft>
              <a:defRPr sz="880">
                <a:solidFill>
                  <a:srgbClr val="334155"/>
                </a:solidFill>
              </a:defRPr>
            </a:pPr>
            <a:r>
              <a:t>• 2 Certified demonstration recycling partners.</a:t>
            </a:r>
          </a:p>
          <a:p>
            <a:pPr>
              <a:spcAft>
                <a:spcPts val="300"/>
              </a:spcAft>
              <a:defRPr sz="880">
                <a:solidFill>
                  <a:srgbClr val="334155"/>
                </a:solidFill>
              </a:defRPr>
            </a:pPr>
          </a:p>
          <a:p>
            <a:pPr>
              <a:spcAft>
                <a:spcPts val="300"/>
              </a:spcAft>
              <a:defRPr sz="880">
                <a:solidFill>
                  <a:srgbClr val="334155"/>
                </a:solidFill>
              </a:defRPr>
            </a:pPr>
            <a:r>
              <a:t>Key Operational Milestones:</a:t>
            </a:r>
          </a:p>
          <a:p>
            <a:pPr>
              <a:spcAft>
                <a:spcPts val="300"/>
              </a:spcAft>
              <a:defRPr sz="880">
                <a:solidFill>
                  <a:srgbClr val="334155"/>
                </a:solidFill>
              </a:defRPr>
            </a:pPr>
            <a:r>
              <a:t>• Validate BLE digital scale pairing and app usability.</a:t>
            </a:r>
          </a:p>
          <a:p>
            <a:pPr>
              <a:spcAft>
                <a:spcPts val="300"/>
              </a:spcAft>
              <a:defRPr sz="880">
                <a:solidFill>
                  <a:srgbClr val="334155"/>
                </a:solidFill>
              </a:defRPr>
            </a:pPr>
            <a:r>
              <a:t>• Calibrate gate weighbridge reconciliation tolerance.</a:t>
            </a:r>
          </a:p>
          <a:p>
            <a:pPr>
              <a:spcAft>
                <a:spcPts val="300"/>
              </a:spcAft>
              <a:defRPr sz="880">
                <a:solidFill>
                  <a:srgbClr val="334155"/>
                </a:solidFill>
              </a:defRPr>
            </a:pPr>
            <a:r>
              <a:t>• Measure net collector earnings uplift vs cash baseline.</a:t>
            </a:r>
          </a:p>
          <a:p>
            <a:pPr>
              <a:spcAft>
                <a:spcPts val="300"/>
              </a:spcAft>
              <a:defRPr sz="880">
                <a:solidFill>
                  <a:srgbClr val="334155"/>
                </a:solidFill>
              </a:defRPr>
            </a:pPr>
          </a:p>
          <a:p>
            <a:pPr>
              <a:spcAft>
                <a:spcPts val="300"/>
              </a:spcAft>
              <a:defRPr sz="880">
                <a:solidFill>
                  <a:srgbClr val="334155"/>
                </a:solidFill>
              </a:defRPr>
            </a:pPr>
            <a:r>
              <a:t>Stage 1 Success KPIs:</a:t>
            </a:r>
          </a:p>
          <a:p>
            <a:pPr>
              <a:spcAft>
                <a:spcPts val="300"/>
              </a:spcAft>
              <a:defRPr sz="880">
                <a:solidFill>
                  <a:srgbClr val="334155"/>
                </a:solidFill>
              </a:defRPr>
            </a:pPr>
            <a:r>
              <a:t>• 95%+ Batch reconciliation success rate.</a:t>
            </a:r>
          </a:p>
          <a:p>
            <a:pPr>
              <a:spcAft>
                <a:spcPts val="300"/>
              </a:spcAft>
              <a:defRPr sz="880">
                <a:solidFill>
                  <a:srgbClr val="334155"/>
                </a:solidFill>
              </a:defRPr>
            </a:pPr>
            <a:r>
              <a:t>• &lt;3% Contamination in aggregated scrap.</a:t>
            </a:r>
          </a:p>
          <a:p>
            <a:pPr>
              <a:spcAft>
                <a:spcPts val="300"/>
              </a:spcAft>
              <a:defRPr sz="880">
                <a:solidFill>
                  <a:srgbClr val="334155"/>
                </a:solidFill>
              </a:defRPr>
            </a:pPr>
            <a:r>
              <a:t>• ₹6,000+ Average monthly collector earnings.</a:t>
            </a:r>
          </a:p>
        </p:txBody>
      </p:sp>
      <p:sp>
        <p:nvSpPr>
          <p:cNvPr id="6" name="Rounded Rectangle 5"/>
          <p:cNvSpPr/>
          <p:nvPr/>
        </p:nvSpPr>
        <p:spPr>
          <a:xfrm>
            <a:off x="4297680" y="1691640"/>
            <a:ext cx="338328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50" b="1">
                <a:solidFill>
                  <a:srgbClr val="0F172A"/>
                </a:solidFill>
              </a:defRPr>
            </a:pPr>
            <a:r>
              <a:t>Stage 2: Cluster Scale (M7–M18)</a:t>
            </a:r>
          </a:p>
          <a:p>
            <a:pPr>
              <a:spcAft>
                <a:spcPts val="300"/>
              </a:spcAft>
              <a:defRPr sz="880">
                <a:solidFill>
                  <a:srgbClr val="334155"/>
                </a:solidFill>
              </a:defRPr>
            </a:pPr>
            <a:r>
              <a:t>Scope &amp; Focus:</a:t>
            </a:r>
          </a:p>
          <a:p>
            <a:pPr>
              <a:spcAft>
                <a:spcPts val="300"/>
              </a:spcAft>
              <a:defRPr sz="880">
                <a:solidFill>
                  <a:srgbClr val="334155"/>
                </a:solidFill>
              </a:defRPr>
            </a:pPr>
            <a:r>
              <a:t>• 5 Urban Local Bodies in South India.</a:t>
            </a:r>
          </a:p>
          <a:p>
            <a:pPr>
              <a:spcAft>
                <a:spcPts val="300"/>
              </a:spcAft>
              <a:defRPr sz="880">
                <a:solidFill>
                  <a:srgbClr val="334155"/>
                </a:solidFill>
              </a:defRPr>
            </a:pPr>
            <a:r>
              <a:t>• 25,000 Participating households.</a:t>
            </a:r>
          </a:p>
          <a:p>
            <a:pPr>
              <a:spcAft>
                <a:spcPts val="300"/>
              </a:spcAft>
              <a:defRPr sz="880">
                <a:solidFill>
                  <a:srgbClr val="334155"/>
                </a:solidFill>
              </a:defRPr>
            </a:pPr>
            <a:r>
              <a:t>• 250+ SHG collection leaders.</a:t>
            </a:r>
          </a:p>
          <a:p>
            <a:pPr>
              <a:spcAft>
                <a:spcPts val="300"/>
              </a:spcAft>
              <a:defRPr sz="880">
                <a:solidFill>
                  <a:srgbClr val="334155"/>
                </a:solidFill>
              </a:defRPr>
            </a:pPr>
            <a:r>
              <a:t>• 8 Regional certified recycling hubs.</a:t>
            </a:r>
          </a:p>
          <a:p>
            <a:pPr>
              <a:spcAft>
                <a:spcPts val="300"/>
              </a:spcAft>
              <a:defRPr sz="880">
                <a:solidFill>
                  <a:srgbClr val="334155"/>
                </a:solidFill>
              </a:defRPr>
            </a:pPr>
          </a:p>
          <a:p>
            <a:pPr>
              <a:spcAft>
                <a:spcPts val="300"/>
              </a:spcAft>
              <a:defRPr sz="880">
                <a:solidFill>
                  <a:srgbClr val="334155"/>
                </a:solidFill>
              </a:defRPr>
            </a:pPr>
            <a:r>
              <a:t>Key Operational Milestones:</a:t>
            </a:r>
          </a:p>
          <a:p>
            <a:pPr>
              <a:spcAft>
                <a:spcPts val="300"/>
              </a:spcAft>
              <a:defRPr sz="880">
                <a:solidFill>
                  <a:srgbClr val="334155"/>
                </a:solidFill>
              </a:defRPr>
            </a:pPr>
            <a:r>
              <a:t>• Deploy edge computer vision model on 20,000+ scrap images.</a:t>
            </a:r>
          </a:p>
          <a:p>
            <a:pPr>
              <a:spcAft>
                <a:spcPts val="300"/>
              </a:spcAft>
              <a:defRPr sz="880">
                <a:solidFill>
                  <a:srgbClr val="334155"/>
                </a:solidFill>
              </a:defRPr>
            </a:pPr>
            <a:r>
              <a:t>• Pilot Climate Activity Profile integration in Satin sandbox.</a:t>
            </a:r>
          </a:p>
          <a:p>
            <a:pPr>
              <a:spcAft>
                <a:spcPts val="300"/>
              </a:spcAft>
              <a:defRPr sz="880">
                <a:solidFill>
                  <a:srgbClr val="334155"/>
                </a:solidFill>
              </a:defRPr>
            </a:pPr>
            <a:r>
              <a:t>• Roll out first cohort of financed e-cargo loaders.</a:t>
            </a:r>
          </a:p>
          <a:p>
            <a:pPr>
              <a:spcAft>
                <a:spcPts val="300"/>
              </a:spcAft>
              <a:defRPr sz="880">
                <a:solidFill>
                  <a:srgbClr val="334155"/>
                </a:solidFill>
              </a:defRPr>
            </a:pPr>
          </a:p>
          <a:p>
            <a:pPr>
              <a:spcAft>
                <a:spcPts val="300"/>
              </a:spcAft>
              <a:defRPr sz="880">
                <a:solidFill>
                  <a:srgbClr val="334155"/>
                </a:solidFill>
              </a:defRPr>
            </a:pPr>
            <a:r>
              <a:t>Stage 2 Success KPIs:</a:t>
            </a:r>
          </a:p>
          <a:p>
            <a:pPr>
              <a:spcAft>
                <a:spcPts val="300"/>
              </a:spcAft>
              <a:defRPr sz="880">
                <a:solidFill>
                  <a:srgbClr val="334155"/>
                </a:solidFill>
              </a:defRPr>
            </a:pPr>
            <a:r>
              <a:t>• 300 MT/month dry waste diverted from dumpsites.</a:t>
            </a:r>
          </a:p>
          <a:p>
            <a:pPr>
              <a:spcAft>
                <a:spcPts val="300"/>
              </a:spcAft>
              <a:defRPr sz="880">
                <a:solidFill>
                  <a:srgbClr val="334155"/>
                </a:solidFill>
              </a:defRPr>
            </a:pPr>
            <a:r>
              <a:t>• 25+ Green cargo e-rickshaws financed.</a:t>
            </a:r>
          </a:p>
          <a:p>
            <a:pPr>
              <a:spcAft>
                <a:spcPts val="300"/>
              </a:spcAft>
              <a:defRPr sz="880">
                <a:solidFill>
                  <a:srgbClr val="334155"/>
                </a:solidFill>
              </a:defRPr>
            </a:pPr>
            <a:r>
              <a:t>• 0% Non-performing loan default on pilot cohort.</a:t>
            </a:r>
          </a:p>
        </p:txBody>
      </p:sp>
      <p:sp>
        <p:nvSpPr>
          <p:cNvPr id="7" name="Rounded Rectangle 6"/>
          <p:cNvSpPr/>
          <p:nvPr/>
        </p:nvSpPr>
        <p:spPr>
          <a:xfrm>
            <a:off x="7863840" y="1691640"/>
            <a:ext cx="338328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150" b="1">
                <a:solidFill>
                  <a:srgbClr val="D97706"/>
                </a:solidFill>
              </a:defRPr>
            </a:pPr>
            <a:r>
              <a:t>Stage 3 &amp; Risk Mitigation</a:t>
            </a:r>
          </a:p>
          <a:p>
            <a:pPr>
              <a:spcAft>
                <a:spcPts val="300"/>
              </a:spcAft>
              <a:defRPr sz="880">
                <a:solidFill>
                  <a:srgbClr val="334155"/>
                </a:solidFill>
              </a:defRPr>
            </a:pPr>
            <a:r>
              <a:t>Stage 3: Regional Hub (M19–M36):</a:t>
            </a:r>
          </a:p>
          <a:p>
            <a:pPr>
              <a:spcAft>
                <a:spcPts val="300"/>
              </a:spcAft>
              <a:defRPr sz="880">
                <a:solidFill>
                  <a:srgbClr val="334155"/>
                </a:solidFill>
              </a:defRPr>
            </a:pPr>
            <a:r>
              <a:t>• Integration with State Rural Livelihood Missions (NULM/SRLM).</a:t>
            </a:r>
          </a:p>
          <a:p>
            <a:pPr>
              <a:spcAft>
                <a:spcPts val="300"/>
              </a:spcAft>
              <a:defRPr sz="880">
                <a:solidFill>
                  <a:srgbClr val="334155"/>
                </a:solidFill>
              </a:defRPr>
            </a:pPr>
            <a:r>
              <a:t>• 100,000+ Households across 20 municipal clusters.</a:t>
            </a:r>
          </a:p>
          <a:p>
            <a:pPr>
              <a:spcAft>
                <a:spcPts val="300"/>
              </a:spcAft>
              <a:defRPr sz="880">
                <a:solidFill>
                  <a:srgbClr val="334155"/>
                </a:solidFill>
              </a:defRPr>
            </a:pPr>
          </a:p>
          <a:p>
            <a:pPr>
              <a:spcAft>
                <a:spcPts val="300"/>
              </a:spcAft>
              <a:defRPr sz="880">
                <a:solidFill>
                  <a:srgbClr val="334155"/>
                </a:solidFill>
              </a:defRPr>
            </a:pPr>
            <a:r>
              <a:t>Key Risks &amp; Defensible Mitigations:</a:t>
            </a:r>
          </a:p>
          <a:p>
            <a:pPr>
              <a:spcAft>
                <a:spcPts val="300"/>
              </a:spcAft>
              <a:defRPr sz="880">
                <a:solidFill>
                  <a:srgbClr val="334155"/>
                </a:solidFill>
              </a:defRPr>
            </a:pPr>
            <a:r>
              <a:t>• Risk 1: Collectors bypass app for instant cash.</a:t>
            </a:r>
          </a:p>
          <a:p>
            <a:pPr>
              <a:spcAft>
                <a:spcPts val="300"/>
              </a:spcAft>
              <a:defRPr sz="880">
                <a:solidFill>
                  <a:srgbClr val="334155"/>
                </a:solidFill>
              </a:defRPr>
            </a:pPr>
            <a:r>
              <a:t>  Mitigation: Recyclers pay 15% bulk price premium passed to SHG; credit readiness requires app records.</a:t>
            </a:r>
          </a:p>
          <a:p>
            <a:pPr>
              <a:spcAft>
                <a:spcPts val="300"/>
              </a:spcAft>
              <a:defRPr sz="880">
                <a:solidFill>
                  <a:srgbClr val="334155"/>
                </a:solidFill>
              </a:defRPr>
            </a:pPr>
            <a:r>
              <a:t>• Risk 2: Low digital literacy among SHG women.</a:t>
            </a:r>
          </a:p>
          <a:p>
            <a:pPr>
              <a:spcAft>
                <a:spcPts val="300"/>
              </a:spcAft>
              <a:defRPr sz="880">
                <a:solidFill>
                  <a:srgbClr val="334155"/>
                </a:solidFill>
              </a:defRPr>
            </a:pPr>
            <a:r>
              <a:t>  Mitigation: Color-coded icons, voice-assisted UI prompts, and peer SHG group training.</a:t>
            </a:r>
          </a:p>
          <a:p>
            <a:pPr>
              <a:spcAft>
                <a:spcPts val="300"/>
              </a:spcAft>
              <a:defRPr sz="880">
                <a:solidFill>
                  <a:srgbClr val="334155"/>
                </a:solidFill>
              </a:defRPr>
            </a:pPr>
            <a:r>
              <a:t>• Risk 3: Data privacy and regulatory risk.</a:t>
            </a:r>
          </a:p>
          <a:p>
            <a:pPr>
              <a:spcAft>
                <a:spcPts val="300"/>
              </a:spcAft>
              <a:defRPr sz="880">
                <a:solidFill>
                  <a:srgbClr val="334155"/>
                </a:solidFill>
              </a:defRPr>
            </a:pPr>
            <a:r>
              <a:t>  Mitigation: Strict DPDP Act 2023 purpose-specific consent; data minimization; zero data selling.</a:t>
            </a:r>
          </a:p>
        </p:txBody>
      </p:sp>
      <p:sp>
        <p:nvSpPr>
          <p:cNvPr id="8" name="Rectangle 7"/>
          <p:cNvSpPr/>
          <p:nvPr/>
        </p:nvSpPr>
        <p:spPr>
          <a:xfrm>
            <a:off x="731520" y="6126480"/>
            <a:ext cx="10728655" cy="3657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a:solidFill>
                  <a:srgbClr val="64748B"/>
                </a:solidFill>
              </a:defRPr>
            </a:pPr>
            <a:r>
              <a:t>GOVERNANCE NOTICE: Roadmap timelines, partner numbers, and metrics represent proposed execution plans for subsequent validation stages. No commercial pilots or municipal contracts have been finalized.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1005840"/>
          </a:xfrm>
          <a:prstGeom prst="rect">
            <a:avLst/>
          </a:prstGeom>
          <a:noFill/>
        </p:spPr>
        <p:txBody>
          <a:bodyPr wrap="square" lIns="0" tIns="0" rIns="0" bIns="0">
            <a:spAutoFit/>
          </a:bodyPr>
          <a:lstStyle/>
          <a:p>
            <a:pPr>
              <a:spcAft>
                <a:spcPts val="200"/>
              </a:spcAft>
              <a:defRPr sz="950" b="1">
                <a:solidFill>
                  <a:srgbClr val="059669"/>
                </a:solidFill>
              </a:defRPr>
            </a:pPr>
            <a:r>
              <a:t>SUMMARY &amp; CLOSING COMMITMENT</a:t>
            </a:r>
          </a:p>
          <a:p>
            <a:pPr>
              <a:spcAft>
                <a:spcPts val="200"/>
              </a:spcAft>
              <a:defRPr sz="2200" b="1">
                <a:solidFill>
                  <a:srgbClr val="0F172A"/>
                </a:solidFill>
              </a:defRPr>
            </a:pPr>
            <a:r>
              <a:t>A Cleaner Future Driven by Women-Led Climate Action</a:t>
            </a:r>
          </a:p>
          <a:p>
            <a:pPr>
              <a:defRPr sz="1100">
                <a:solidFill>
                  <a:srgbClr val="64748B"/>
                </a:solidFill>
              </a:defRPr>
            </a:pPr>
            <a:r>
              <a:t>Turning unmanaged waste into transparent community wealth, environmental protection, and dignified livelihoods.</a:t>
            </a:r>
          </a:p>
        </p:txBody>
      </p:sp>
      <p:sp>
        <p:nvSpPr>
          <p:cNvPr id="5" name="Rounded Rectangle 4"/>
          <p:cNvSpPr/>
          <p:nvPr/>
        </p:nvSpPr>
        <p:spPr>
          <a:xfrm>
            <a:off x="731520" y="1691640"/>
            <a:ext cx="5212080" cy="4297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64E3B"/>
                </a:solidFill>
              </a:defRPr>
            </a:pPr>
            <a:r>
              <a:t>Alignment with SANKALP Evaluation Criteria</a:t>
            </a:r>
          </a:p>
          <a:p>
            <a:pPr>
              <a:spcAft>
                <a:spcPts val="300"/>
              </a:spcAft>
              <a:defRPr sz="919">
                <a:solidFill>
                  <a:srgbClr val="334155"/>
                </a:solidFill>
              </a:defRPr>
            </a:pPr>
            <a:r>
              <a:t>1. Innovation (Closed-Loop Circular FinTech):</a:t>
            </a:r>
          </a:p>
          <a:p>
            <a:pPr>
              <a:spcAft>
                <a:spcPts val="300"/>
              </a:spcAft>
              <a:defRPr sz="919">
                <a:solidFill>
                  <a:srgbClr val="334155"/>
                </a:solidFill>
              </a:defRPr>
            </a:pPr>
            <a:r>
              <a:t>   Combines household collection, digital scale receipts, AI-assisted classification, and consent-gated green microfinance readiness into one connected platform.</a:t>
            </a:r>
          </a:p>
          <a:p>
            <a:pPr>
              <a:spcAft>
                <a:spcPts val="300"/>
              </a:spcAft>
              <a:defRPr sz="919">
                <a:solidFill>
                  <a:srgbClr val="334155"/>
                </a:solidFill>
              </a:defRPr>
            </a:pPr>
          </a:p>
          <a:p>
            <a:pPr>
              <a:spcAft>
                <a:spcPts val="300"/>
              </a:spcAft>
              <a:defRPr sz="919">
                <a:solidFill>
                  <a:srgbClr val="334155"/>
                </a:solidFill>
              </a:defRPr>
            </a:pPr>
            <a:r>
              <a:t>2. Execution (Verified Working Prototype):</a:t>
            </a:r>
          </a:p>
          <a:p>
            <a:pPr>
              <a:spcAft>
                <a:spcPts val="300"/>
              </a:spcAft>
              <a:defRPr sz="919">
                <a:solidFill>
                  <a:srgbClr val="334155"/>
                </a:solidFill>
              </a:defRPr>
            </a:pPr>
            <a:r>
              <a:t>   Fully built React 19 application running live with transparent formulas, telemetry dashboards, and zero fake claims or mock dependencies.</a:t>
            </a:r>
          </a:p>
          <a:p>
            <a:pPr>
              <a:spcAft>
                <a:spcPts val="300"/>
              </a:spcAft>
              <a:defRPr sz="919">
                <a:solidFill>
                  <a:srgbClr val="334155"/>
                </a:solidFill>
              </a:defRPr>
            </a:pPr>
          </a:p>
          <a:p>
            <a:pPr>
              <a:spcAft>
                <a:spcPts val="300"/>
              </a:spcAft>
              <a:defRPr sz="919">
                <a:solidFill>
                  <a:srgbClr val="334155"/>
                </a:solidFill>
              </a:defRPr>
            </a:pPr>
            <a:r>
              <a:t>3. Scalability (Asset-Light SHG Model):</a:t>
            </a:r>
          </a:p>
          <a:p>
            <a:pPr>
              <a:spcAft>
                <a:spcPts val="300"/>
              </a:spcAft>
              <a:defRPr sz="919">
                <a:solidFill>
                  <a:srgbClr val="334155"/>
                </a:solidFill>
              </a:defRPr>
            </a:pPr>
            <a:r>
              <a:t>   Leverages existing community SHG federations and municipal waste infrastructure without expensive hardware lock-in or speculative blockchain tokens.</a:t>
            </a:r>
          </a:p>
          <a:p>
            <a:pPr>
              <a:spcAft>
                <a:spcPts val="300"/>
              </a:spcAft>
              <a:defRPr sz="919">
                <a:solidFill>
                  <a:srgbClr val="334155"/>
                </a:solidFill>
              </a:defRPr>
            </a:pPr>
          </a:p>
          <a:p>
            <a:pPr>
              <a:spcAft>
                <a:spcPts val="300"/>
              </a:spcAft>
              <a:defRPr sz="919">
                <a:solidFill>
                  <a:srgbClr val="334155"/>
                </a:solidFill>
              </a:defRPr>
            </a:pPr>
            <a:r>
              <a:t>4. Vision (Dignified Climate Resilience):</a:t>
            </a:r>
          </a:p>
          <a:p>
            <a:pPr>
              <a:spcAft>
                <a:spcPts val="300"/>
              </a:spcAft>
              <a:defRPr sz="919">
                <a:solidFill>
                  <a:srgbClr val="334155"/>
                </a:solidFill>
              </a:defRPr>
            </a:pPr>
            <a:r>
              <a:t>   Transforms vulnerable, informal women waste pickers into recognized, bankable green micro-entrepreneurs driving India's net-zero transition.</a:t>
            </a:r>
          </a:p>
        </p:txBody>
      </p:sp>
      <p:sp>
        <p:nvSpPr>
          <p:cNvPr id="6" name="Rounded Rectangle 5"/>
          <p:cNvSpPr/>
          <p:nvPr/>
        </p:nvSpPr>
        <p:spPr>
          <a:xfrm>
            <a:off x="6217920" y="1691640"/>
            <a:ext cx="5242255" cy="4297680"/>
          </a:xfrm>
          <a:prstGeom prst="roundRect">
            <a:avLst/>
          </a:prstGeom>
          <a:solidFill>
            <a:srgbClr val="F0FDF4"/>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600"/>
              </a:spcAft>
              <a:defRPr sz="1200" b="1">
                <a:solidFill>
                  <a:srgbClr val="064E3B"/>
                </a:solidFill>
              </a:defRPr>
            </a:pPr>
            <a:r>
              <a:t>The EcoSakhi Commitment &amp; Immediate Ask</a:t>
            </a:r>
          </a:p>
          <a:p>
            <a:pPr>
              <a:spcAft>
                <a:spcPts val="300"/>
              </a:spcAft>
              <a:defRPr sz="919">
                <a:solidFill>
                  <a:srgbClr val="334155"/>
                </a:solidFill>
              </a:defRPr>
            </a:pPr>
            <a:r>
              <a:t>Our Guiding North Star:</a:t>
            </a:r>
          </a:p>
          <a:p>
            <a:pPr>
              <a:spcAft>
                <a:spcPts val="300"/>
              </a:spcAft>
              <a:defRPr sz="919">
                <a:solidFill>
                  <a:srgbClr val="334155"/>
                </a:solidFill>
              </a:defRPr>
            </a:pPr>
            <a:r>
              <a:t>“When you give women the digital tools to capture circular value, every kilogram of waste becomes a catalyst for climate resilience, community dignity, and economic independence.”</a:t>
            </a:r>
          </a:p>
          <a:p>
            <a:pPr>
              <a:spcAft>
                <a:spcPts val="300"/>
              </a:spcAft>
              <a:defRPr sz="919">
                <a:solidFill>
                  <a:srgbClr val="334155"/>
                </a:solidFill>
              </a:defRPr>
            </a:pPr>
          </a:p>
          <a:p>
            <a:pPr>
              <a:spcAft>
                <a:spcPts val="300"/>
              </a:spcAft>
              <a:defRPr sz="919">
                <a:solidFill>
                  <a:srgbClr val="334155"/>
                </a:solidFill>
              </a:defRPr>
            </a:pPr>
            <a:r>
              <a:t>Realistic Support Needed for Next Validation Stage:</a:t>
            </a:r>
          </a:p>
          <a:p>
            <a:pPr>
              <a:spcAft>
                <a:spcPts val="300"/>
              </a:spcAft>
              <a:defRPr sz="919">
                <a:solidFill>
                  <a:srgbClr val="334155"/>
                </a:solidFill>
              </a:defRPr>
            </a:pPr>
            <a:r>
              <a:t>• Mentorship &amp; Sandbox Access: Engagement with Satin Finserv sustainability and microfinance underwriting teams to refine our Climate Activity Profile.</a:t>
            </a:r>
          </a:p>
          <a:p>
            <a:pPr>
              <a:spcAft>
                <a:spcPts val="300"/>
              </a:spcAft>
              <a:defRPr sz="919">
                <a:solidFill>
                  <a:srgbClr val="334155"/>
                </a:solidFill>
              </a:defRPr>
            </a:pPr>
            <a:r>
              <a:t>• Municipal Pilot Ward Access: Partnership with a willing Urban Local Body or SHG federation to deploy our 1,000-household validation pilot.</a:t>
            </a:r>
          </a:p>
          <a:p>
            <a:pPr>
              <a:spcAft>
                <a:spcPts val="300"/>
              </a:spcAft>
              <a:defRPr sz="919">
                <a:solidFill>
                  <a:srgbClr val="334155"/>
                </a:solidFill>
              </a:defRPr>
            </a:pPr>
            <a:r>
              <a:t>• Hardware Scale Integration: Field testing with Bluetooth Low Energy (BLE) load-cell scales in real slum collection conditions.</a:t>
            </a:r>
          </a:p>
          <a:p>
            <a:pPr>
              <a:spcAft>
                <a:spcPts val="300"/>
              </a:spcAft>
              <a:defRPr sz="919">
                <a:solidFill>
                  <a:srgbClr val="334155"/>
                </a:solidFill>
              </a:defRPr>
            </a:pPr>
          </a:p>
          <a:p>
            <a:pPr>
              <a:spcAft>
                <a:spcPts val="300"/>
              </a:spcAft>
              <a:defRPr sz="919">
                <a:solidFill>
                  <a:srgbClr val="334155"/>
                </a:solidFill>
              </a:defRPr>
            </a:pPr>
            <a:r>
              <a:t>Team &amp; Competition Information:</a:t>
            </a:r>
          </a:p>
          <a:p>
            <a:pPr>
              <a:spcAft>
                <a:spcPts val="300"/>
              </a:spcAft>
              <a:defRPr sz="919">
                <a:solidFill>
                  <a:srgbClr val="334155"/>
                </a:solidFill>
              </a:defRPr>
            </a:pPr>
            <a:r>
              <a:t>• Project: EcoSakhi (v1.0.0-rc1 Prototype)</a:t>
            </a:r>
          </a:p>
          <a:p>
            <a:pPr>
              <a:spcAft>
                <a:spcPts val="300"/>
              </a:spcAft>
              <a:defRPr sz="919">
                <a:solidFill>
                  <a:srgbClr val="334155"/>
                </a:solidFill>
              </a:defRPr>
            </a:pPr>
            <a:r>
              <a:t>• Competition: SANKALP by Satin Finserv — The Climate Edition (Student Track)</a:t>
            </a:r>
          </a:p>
          <a:p>
            <a:pPr>
              <a:spcAft>
                <a:spcPts val="300"/>
              </a:spcAft>
              <a:defRPr sz="919">
                <a:solidFill>
                  <a:srgbClr val="334155"/>
                </a:solidFill>
              </a:defRPr>
            </a:pPr>
            <a:r>
              <a:t>• Team: Team EcoSakhi (Student Innovators)</a:t>
            </a:r>
          </a:p>
          <a:p>
            <a:pPr>
              <a:spcAft>
                <a:spcPts val="300"/>
              </a:spcAft>
              <a:defRPr sz="919">
                <a:solidFill>
                  <a:srgbClr val="334155"/>
                </a:solidFill>
              </a:defRPr>
            </a:pPr>
            <a:r>
              <a:t>• Working Prototype: Verified locally on port 5174 | Contact: team@ecosakhi.in</a:t>
            </a:r>
          </a:p>
        </p:txBody>
      </p:sp>
      <p:sp>
        <p:nvSpPr>
          <p:cNvPr id="7" name="Rectangle 6"/>
          <p:cNvSpPr/>
          <p:nvPr/>
        </p:nvSpPr>
        <p:spPr>
          <a:xfrm>
            <a:off x="731520" y="6126480"/>
            <a:ext cx="10728655" cy="36576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THANK YOU | SANKALP BY SATIN FINSERV — THE CLIMATE EDITION (STUDENT TRACK,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